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53" r:id="rId3"/>
    <p:sldId id="354" r:id="rId4"/>
    <p:sldId id="259" r:id="rId5"/>
    <p:sldId id="260" r:id="rId6"/>
    <p:sldId id="275" r:id="rId7"/>
    <p:sldId id="270" r:id="rId8"/>
    <p:sldId id="262" r:id="rId9"/>
    <p:sldId id="355" r:id="rId10"/>
    <p:sldId id="271" r:id="rId11"/>
    <p:sldId id="272" r:id="rId12"/>
    <p:sldId id="293" r:id="rId13"/>
    <p:sldId id="294" r:id="rId14"/>
    <p:sldId id="280" r:id="rId15"/>
    <p:sldId id="281" r:id="rId16"/>
    <p:sldId id="282" r:id="rId17"/>
    <p:sldId id="283" r:id="rId18"/>
    <p:sldId id="284" r:id="rId19"/>
    <p:sldId id="295" r:id="rId20"/>
    <p:sldId id="285" r:id="rId21"/>
    <p:sldId id="286" r:id="rId22"/>
    <p:sldId id="287" r:id="rId23"/>
    <p:sldId id="288" r:id="rId24"/>
    <p:sldId id="289" r:id="rId25"/>
    <p:sldId id="356" r:id="rId26"/>
    <p:sldId id="357" r:id="rId27"/>
    <p:sldId id="35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9"/>
  </p:normalViewPr>
  <p:slideViewPr>
    <p:cSldViewPr>
      <p:cViewPr varScale="1">
        <p:scale>
          <a:sx n="102" d="100"/>
          <a:sy n="102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F7E19-5E58-4A0D-942E-F728F20487D2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A42AE6-878C-46A5-A432-87C112332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67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1B1C1-4018-4783-B9D9-7FBE5892ED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2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1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2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1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6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5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7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0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2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898CC-5660-44C1-B068-F179A9DC2F99}" type="datetimeFigureOut">
              <a:rPr lang="en-US" smtClean="0"/>
              <a:t>8/21/25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EBD89-05F3-4F96-A315-DC3652376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1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Cryptography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i="1" dirty="0" smtClean="0">
                <a:solidFill>
                  <a:schemeClr val="tx1"/>
                </a:solidFill>
              </a:rPr>
              <a:t>Lecture 1</a:t>
            </a:r>
            <a:endParaRPr lang="en-US" sz="4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66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800599"/>
          </a:xfrm>
        </p:spPr>
        <p:txBody>
          <a:bodyPr>
            <a:normAutofit/>
          </a:bodyPr>
          <a:lstStyle/>
          <a:p>
            <a:r>
              <a:rPr lang="en-US" dirty="0" smtClean="0"/>
              <a:t>Understand the </a:t>
            </a:r>
            <a:r>
              <a:rPr lang="en-US" i="1" dirty="0" smtClean="0"/>
              <a:t>theoretical basis </a:t>
            </a:r>
            <a:r>
              <a:rPr lang="en-US" dirty="0" smtClean="0"/>
              <a:t>for </a:t>
            </a:r>
            <a:r>
              <a:rPr lang="en-US" i="1" dirty="0" smtClean="0"/>
              <a:t>real-world crypto</a:t>
            </a:r>
            <a:r>
              <a:rPr lang="en-US" dirty="0" smtClean="0"/>
              <a:t> </a:t>
            </a:r>
          </a:p>
          <a:p>
            <a:r>
              <a:rPr lang="en-US" dirty="0" smtClean="0"/>
              <a:t>When you encounter crypto in your career:</a:t>
            </a:r>
          </a:p>
          <a:p>
            <a:pPr lvl="1"/>
            <a:r>
              <a:rPr lang="en-US" dirty="0" smtClean="0"/>
              <a:t>Understand the key terms</a:t>
            </a:r>
          </a:p>
          <a:p>
            <a:pPr lvl="1"/>
            <a:r>
              <a:rPr lang="en-US" dirty="0" smtClean="0"/>
              <a:t>Understand the security guarantees needed/provided</a:t>
            </a:r>
          </a:p>
          <a:p>
            <a:pPr lvl="1"/>
            <a:r>
              <a:rPr lang="en-US" dirty="0" smtClean="0"/>
              <a:t>Know how to use crypto</a:t>
            </a:r>
          </a:p>
          <a:p>
            <a:pPr lvl="1"/>
            <a:r>
              <a:rPr lang="en-US" dirty="0" smtClean="0"/>
              <a:t>Understand what goes on “under the hood”</a:t>
            </a:r>
          </a:p>
          <a:p>
            <a:r>
              <a:rPr lang="en-US" dirty="0" smtClean="0"/>
              <a:t>“Crypto mindset”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non-goals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Designing your own crypto schemes</a:t>
            </a:r>
          </a:p>
          <a:p>
            <a:pPr lvl="1"/>
            <a:r>
              <a:rPr lang="en-US" dirty="0" smtClean="0"/>
              <a:t>This is hard!</a:t>
            </a:r>
          </a:p>
          <a:p>
            <a:r>
              <a:rPr lang="en-US" dirty="0" smtClean="0"/>
              <a:t>Implementing crypto for real-world use</a:t>
            </a:r>
          </a:p>
          <a:p>
            <a:pPr lvl="1"/>
            <a:r>
              <a:rPr lang="en-US" dirty="0" smtClean="0"/>
              <a:t>This is hard!</a:t>
            </a:r>
          </a:p>
          <a:p>
            <a:pPr marL="742950" lvl="2" indent="-342900"/>
            <a:endParaRPr lang="en-US" dirty="0" smtClean="0"/>
          </a:p>
          <a:p>
            <a:pPr marL="0" indent="-400050"/>
            <a:r>
              <a:rPr lang="en-US" dirty="0" smtClean="0"/>
              <a:t>Course goal: </a:t>
            </a:r>
            <a:br>
              <a:rPr lang="en-US" dirty="0" smtClean="0"/>
            </a:br>
            <a:r>
              <a:rPr lang="en-US" dirty="0" smtClean="0"/>
              <a:t>    realize when </a:t>
            </a:r>
            <a:r>
              <a:rPr lang="en-US" dirty="0"/>
              <a:t>to consult an </a:t>
            </a:r>
            <a:r>
              <a:rPr lang="en-US" dirty="0" smtClean="0"/>
              <a:t>expert!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0595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Cryptography (historically)</a:t>
            </a:r>
            <a:endParaRPr lang="en-US" altLang="en-US" dirty="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dirty="0"/>
              <a:t>     “…the art of writing or solving codes…”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Historically</a:t>
            </a:r>
            <a:r>
              <a:rPr lang="en-US" altLang="en-US" dirty="0"/>
              <a:t>, cryptography </a:t>
            </a:r>
            <a:r>
              <a:rPr lang="en-US" altLang="en-US" dirty="0" smtClean="0"/>
              <a:t>focused exclusively on ensuring </a:t>
            </a:r>
            <a:r>
              <a:rPr lang="en-US" altLang="en-US" i="1" dirty="0" smtClean="0"/>
              <a:t>private communication</a:t>
            </a:r>
            <a:r>
              <a:rPr lang="en-US" altLang="en-US" dirty="0" smtClean="0"/>
              <a:t> </a:t>
            </a:r>
            <a:br>
              <a:rPr lang="en-US" altLang="en-US" dirty="0" smtClean="0"/>
            </a:br>
            <a:r>
              <a:rPr lang="en-US" altLang="en-US" dirty="0" smtClean="0"/>
              <a:t>between two parties sharing secret information in advance using “codes” (aka</a:t>
            </a:r>
            <a:br>
              <a:rPr lang="en-US" altLang="en-US" dirty="0" smtClean="0"/>
            </a:br>
            <a:r>
              <a:rPr lang="en-US" altLang="en-US" i="1" dirty="0" smtClean="0"/>
              <a:t>private-key encryption</a:t>
            </a:r>
            <a:r>
              <a:rPr lang="en-US" altLang="en-US" dirty="0" smtClean="0"/>
              <a:t>)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86530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Much broader scope!</a:t>
            </a:r>
          </a:p>
          <a:p>
            <a:pPr lvl="1"/>
            <a:r>
              <a:rPr lang="en-US" altLang="en-US" dirty="0" smtClean="0"/>
              <a:t>Data integrity, authentication, protocols, …</a:t>
            </a:r>
          </a:p>
          <a:p>
            <a:pPr lvl="1"/>
            <a:r>
              <a:rPr lang="en-US" altLang="en-US" dirty="0" smtClean="0"/>
              <a:t>The </a:t>
            </a:r>
            <a:r>
              <a:rPr lang="en-US" altLang="en-US" i="1" dirty="0" smtClean="0"/>
              <a:t>public-key setting</a:t>
            </a:r>
            <a:endParaRPr lang="en-US" altLang="en-US" dirty="0" smtClean="0"/>
          </a:p>
          <a:p>
            <a:pPr lvl="1"/>
            <a:r>
              <a:rPr lang="en-US" altLang="en-US" dirty="0"/>
              <a:t>Group </a:t>
            </a:r>
            <a:r>
              <a:rPr lang="en-US" altLang="en-US" dirty="0" smtClean="0"/>
              <a:t>communication</a:t>
            </a:r>
          </a:p>
          <a:p>
            <a:pPr lvl="1"/>
            <a:r>
              <a:rPr lang="en-US" altLang="en-US" dirty="0" smtClean="0"/>
              <a:t>More-complicated trust models</a:t>
            </a:r>
          </a:p>
          <a:p>
            <a:pPr lvl="1"/>
            <a:r>
              <a:rPr lang="en-US" altLang="en-US" dirty="0" smtClean="0"/>
              <a:t>Foundations (e.g., number theory, quantum-resistance) to systems (e.g., electronic voting, </a:t>
            </a:r>
            <a:r>
              <a:rPr lang="en-US" altLang="en-US" dirty="0" err="1" smtClean="0"/>
              <a:t>blockchain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cryptocurrencies</a:t>
            </a:r>
            <a:r>
              <a:rPr lang="en-US" alt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979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 algn="ctr">
              <a:buNone/>
            </a:pPr>
            <a:endParaRPr lang="en-US" altLang="en-US" i="1" dirty="0" smtClean="0"/>
          </a:p>
          <a:p>
            <a:pPr marL="0" lvl="1" indent="0" algn="ctr">
              <a:buNone/>
            </a:pPr>
            <a:endParaRPr lang="en-US" altLang="en-US" i="1" dirty="0"/>
          </a:p>
          <a:p>
            <a:pPr marL="0" lvl="1" indent="0" algn="ctr">
              <a:buNone/>
            </a:pPr>
            <a:r>
              <a:rPr lang="en-US" altLang="en-US" i="1" dirty="0" smtClean="0"/>
              <a:t>Design</a:t>
            </a:r>
            <a:r>
              <a:rPr lang="en-US" altLang="en-US" i="1" dirty="0"/>
              <a:t>, analysis, and implementation of </a:t>
            </a:r>
            <a:r>
              <a:rPr lang="en-US" altLang="en-US" b="1" i="1" dirty="0"/>
              <a:t>mathematical techniques </a:t>
            </a:r>
            <a:r>
              <a:rPr lang="en-US" altLang="en-US" i="1" dirty="0"/>
              <a:t>for securing information, systems, and </a:t>
            </a:r>
            <a:r>
              <a:rPr lang="en-US" altLang="en-US" i="1" dirty="0" smtClean="0"/>
              <a:t>distributed computations </a:t>
            </a:r>
            <a:r>
              <a:rPr lang="en-US" altLang="en-US" i="1" dirty="0"/>
              <a:t>against adversarial </a:t>
            </a:r>
            <a:r>
              <a:rPr lang="en-US" altLang="en-US" i="1" dirty="0" smtClean="0"/>
              <a:t>attack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380174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Cryptography (historically)</a:t>
            </a:r>
            <a:endParaRPr lang="en-US" altLang="en-US" dirty="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en-US" dirty="0"/>
              <a:t>     “…the art of writing or solving codes…”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Historically</a:t>
            </a:r>
            <a:r>
              <a:rPr lang="en-US" altLang="en-US" dirty="0"/>
              <a:t>, </a:t>
            </a:r>
            <a:r>
              <a:rPr lang="en-US" altLang="en-US" dirty="0" smtClean="0"/>
              <a:t>cryptography was an </a:t>
            </a:r>
            <a:r>
              <a:rPr lang="en-US" altLang="en-US" i="1" dirty="0" smtClean="0"/>
              <a:t>art</a:t>
            </a:r>
          </a:p>
          <a:p>
            <a:pPr lvl="1"/>
            <a:r>
              <a:rPr lang="en-US" altLang="en-US" dirty="0" smtClean="0"/>
              <a:t>Heuristic, unprincipled design and analysis</a:t>
            </a:r>
          </a:p>
          <a:p>
            <a:pPr lvl="1"/>
            <a:r>
              <a:rPr lang="en-US" altLang="en-US" dirty="0" smtClean="0"/>
              <a:t>Schemes proposed, broken, repeat…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77733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Modern cryptography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Cryptography is </a:t>
            </a:r>
            <a:r>
              <a:rPr lang="en-US" altLang="en-US" dirty="0" smtClean="0"/>
              <a:t>now much more of a </a:t>
            </a:r>
            <a:r>
              <a:rPr lang="en-US" altLang="en-US" i="1" dirty="0"/>
              <a:t>science</a:t>
            </a:r>
          </a:p>
          <a:p>
            <a:pPr lvl="1"/>
            <a:r>
              <a:rPr lang="en-US" altLang="en-US" dirty="0"/>
              <a:t>Rigorous </a:t>
            </a:r>
            <a:r>
              <a:rPr lang="en-US" altLang="en-US" dirty="0" smtClean="0"/>
              <a:t>analysis, firm </a:t>
            </a:r>
            <a:r>
              <a:rPr lang="en-US" altLang="en-US" dirty="0"/>
              <a:t>foundations, deeper understanding, rich </a:t>
            </a:r>
            <a:r>
              <a:rPr lang="en-US" altLang="en-US" dirty="0" smtClean="0"/>
              <a:t>theory</a:t>
            </a:r>
          </a:p>
          <a:p>
            <a:pPr lvl="1"/>
            <a:endParaRPr lang="en-US" altLang="en-US" dirty="0"/>
          </a:p>
          <a:p>
            <a:r>
              <a:rPr lang="en-US" altLang="en-US" dirty="0" smtClean="0"/>
              <a:t>The “crypto mindset” has permeated </a:t>
            </a:r>
            <a:br>
              <a:rPr lang="en-US" altLang="en-US" dirty="0" smtClean="0"/>
            </a:br>
            <a:r>
              <a:rPr lang="en-US" altLang="en-US" dirty="0" smtClean="0"/>
              <a:t>other areas of computer security</a:t>
            </a:r>
          </a:p>
          <a:p>
            <a:pPr lvl="1"/>
            <a:r>
              <a:rPr lang="en-US" altLang="en-US" dirty="0" smtClean="0"/>
              <a:t>Threat modeling</a:t>
            </a:r>
          </a:p>
          <a:p>
            <a:pPr lvl="1"/>
            <a:r>
              <a:rPr lang="en-US" altLang="en-US" dirty="0" smtClean="0"/>
              <a:t>Proofs of security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6209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Cryptography (historically)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primarily for military/government applications, plus a few niche applications in industry (e.g., banking)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60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Modern 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Cryptography is ubiquitous!</a:t>
            </a:r>
          </a:p>
          <a:p>
            <a:pPr lvl="1"/>
            <a:r>
              <a:rPr lang="en-US" dirty="0" smtClean="0"/>
              <a:t>Password-based authentication, password hashing</a:t>
            </a:r>
          </a:p>
          <a:p>
            <a:pPr lvl="1"/>
            <a:r>
              <a:rPr lang="en-US" dirty="0" smtClean="0"/>
              <a:t>Secure credit-card transactions over the internet</a:t>
            </a:r>
          </a:p>
          <a:p>
            <a:pPr lvl="1"/>
            <a:r>
              <a:rPr lang="en-US" dirty="0" smtClean="0"/>
              <a:t>Encrypted </a:t>
            </a:r>
            <a:r>
              <a:rPr lang="en-US" dirty="0" err="1" smtClean="0"/>
              <a:t>WiFi</a:t>
            </a:r>
            <a:endParaRPr lang="en-US" dirty="0" smtClean="0"/>
          </a:p>
          <a:p>
            <a:pPr lvl="1"/>
            <a:r>
              <a:rPr lang="en-US" dirty="0" smtClean="0"/>
              <a:t>Disk encryption</a:t>
            </a:r>
          </a:p>
          <a:p>
            <a:pPr lvl="1"/>
            <a:r>
              <a:rPr lang="en-US" dirty="0" smtClean="0"/>
              <a:t>Digitally signed software updates</a:t>
            </a:r>
          </a:p>
          <a:p>
            <a:pPr lvl="1"/>
            <a:r>
              <a:rPr lang="en-US" dirty="0" err="1" smtClean="0"/>
              <a:t>Bitcoin</a:t>
            </a:r>
            <a:endParaRPr lang="en-US" dirty="0" smtClean="0"/>
          </a:p>
          <a:p>
            <a:pPr lvl="1"/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39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Rough 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Building blocks</a:t>
            </a:r>
          </a:p>
          <a:p>
            <a:pPr lvl="1"/>
            <a:r>
              <a:rPr lang="en-US" dirty="0" smtClean="0"/>
              <a:t>Pseudorandom (number) generators</a:t>
            </a:r>
          </a:p>
          <a:p>
            <a:pPr lvl="1"/>
            <a:r>
              <a:rPr lang="en-US" dirty="0" smtClean="0"/>
              <a:t>Pseudorandom functions/block ciphers</a:t>
            </a:r>
          </a:p>
          <a:p>
            <a:pPr lvl="1"/>
            <a:r>
              <a:rPr lang="en-US" dirty="0" smtClean="0"/>
              <a:t>Hash functions</a:t>
            </a:r>
          </a:p>
          <a:p>
            <a:pPr lvl="1"/>
            <a:r>
              <a:rPr lang="en-US" dirty="0" smtClean="0"/>
              <a:t>Number theory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459668"/>
              </p:ext>
            </p:extLst>
          </p:nvPr>
        </p:nvGraphicFramePr>
        <p:xfrm>
          <a:off x="1524000" y="1524000"/>
          <a:ext cx="63246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2606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Secrecy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Integrity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Private-key setting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Private-key encryption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Message authentication codes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Public-key setting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Public-key encryption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Digital</a:t>
                      </a:r>
                      <a:r>
                        <a:rPr lang="en-US" baseline="0" dirty="0" smtClean="0"/>
                        <a:t> signatures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82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Classical Cryptography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0013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Allows us to “ease into things…,” introduce notation</a:t>
            </a:r>
          </a:p>
          <a:p>
            <a:r>
              <a:rPr lang="en-US" dirty="0" smtClean="0"/>
              <a:t>Shows why unprincipled approaches are dangerous</a:t>
            </a:r>
          </a:p>
          <a:p>
            <a:r>
              <a:rPr lang="en-US" dirty="0" smtClean="0"/>
              <a:t>Illustrates why things are more difficult than they may appear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2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Classical 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Until the 1970s, exclusively </a:t>
            </a:r>
            <a:r>
              <a:rPr lang="en-US" dirty="0"/>
              <a:t>concerned with ensuring </a:t>
            </a:r>
            <a:r>
              <a:rPr lang="en-US" i="1" dirty="0" smtClean="0"/>
              <a:t>secrecy </a:t>
            </a:r>
            <a:r>
              <a:rPr lang="en-US" dirty="0" smtClean="0"/>
              <a:t>of communication</a:t>
            </a:r>
          </a:p>
          <a:p>
            <a:endParaRPr lang="en-US" i="1" dirty="0"/>
          </a:p>
          <a:p>
            <a:r>
              <a:rPr lang="en-US" dirty="0" smtClean="0"/>
              <a:t>I.e., </a:t>
            </a:r>
            <a:r>
              <a:rPr lang="en-US" i="1" dirty="0" smtClean="0"/>
              <a:t>encryption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757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Classical cryptography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Until the 1970s, relied exclusively on secret information (a </a:t>
            </a:r>
            <a:r>
              <a:rPr lang="en-US" i="1" dirty="0" smtClean="0"/>
              <a:t>key</a:t>
            </a:r>
            <a:r>
              <a:rPr lang="en-US" dirty="0" smtClean="0"/>
              <a:t>) shared in advance between the communicating parties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Private-key </a:t>
            </a:r>
            <a:r>
              <a:rPr lang="en-US" i="1" dirty="0"/>
              <a:t>cryptography </a:t>
            </a:r>
            <a:endParaRPr lang="en-US" i="1" dirty="0" smtClean="0"/>
          </a:p>
          <a:p>
            <a:pPr lvl="1"/>
            <a:r>
              <a:rPr lang="en-US" dirty="0"/>
              <a:t>a</a:t>
            </a:r>
            <a:r>
              <a:rPr lang="en-US" dirty="0" smtClean="0"/>
              <a:t>ka secret-key / shared-key / symmetric-key cryptography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87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upe, Magnifier, Loupe, Glass, Magnify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590800"/>
            <a:ext cx="1400829" cy="14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Private-key encryption</a:t>
            </a:r>
            <a:endParaRPr lang="en-US" altLang="en-US" dirty="0"/>
          </a:p>
        </p:txBody>
      </p:sp>
      <p:pic>
        <p:nvPicPr>
          <p:cNvPr id="176132" name="Picture 4" descr="j029202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2" y="2585268"/>
            <a:ext cx="1527175" cy="14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133" name="Picture 5" descr="j019538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2" y="2585268"/>
            <a:ext cx="1418391" cy="14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566228" y="3047943"/>
            <a:ext cx="34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76135" name="Text Box 7"/>
          <p:cNvSpPr txBox="1">
            <a:spLocks noChangeArrowheads="1"/>
          </p:cNvSpPr>
          <p:nvPr/>
        </p:nvSpPr>
        <p:spPr bwMode="auto">
          <a:xfrm>
            <a:off x="8077200" y="3047943"/>
            <a:ext cx="34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76136" name="Line 8"/>
          <p:cNvSpPr>
            <a:spLocks noChangeShapeType="1"/>
          </p:cNvSpPr>
          <p:nvPr/>
        </p:nvSpPr>
        <p:spPr bwMode="auto">
          <a:xfrm>
            <a:off x="2590800" y="3309553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4317009" y="2717800"/>
            <a:ext cx="357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 smtClean="0">
                <a:solidFill>
                  <a:schemeClr val="tx1"/>
                </a:solidFill>
              </a:rPr>
              <a:t>c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33400" y="1905058"/>
            <a:ext cx="174086" cy="121914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32587" y="1385457"/>
            <a:ext cx="60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key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750838" y="3962401"/>
            <a:ext cx="19848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</a:t>
            </a:r>
            <a:endParaRPr lang="en-US" sz="2800" dirty="0" smtClean="0"/>
          </a:p>
          <a:p>
            <a:pPr algn="ctr"/>
            <a:r>
              <a:rPr lang="en-US" sz="2800" dirty="0"/>
              <a:t>c</a:t>
            </a:r>
            <a:r>
              <a:rPr lang="en-US" sz="2800" dirty="0" smtClean="0"/>
              <a:t> </a:t>
            </a:r>
            <a:r>
              <a:rPr lang="en-US" sz="2800" dirty="0">
                <a:sym typeface="Symbol" panose="05050102010706020507" pitchFamily="18" charset="2"/>
              </a:rPr>
              <a:t></a:t>
            </a:r>
            <a:r>
              <a:rPr lang="en-US" sz="2800" dirty="0" smtClean="0"/>
              <a:t> </a:t>
            </a:r>
            <a:r>
              <a:rPr lang="en-US" sz="2800" dirty="0" err="1" smtClean="0"/>
              <a:t>Enc</a:t>
            </a:r>
            <a:r>
              <a:rPr lang="en-US" sz="2800" baseline="-25000" dirty="0" err="1" smtClean="0"/>
              <a:t>k</a:t>
            </a:r>
            <a:r>
              <a:rPr lang="en-US" sz="2800" dirty="0" smtClean="0"/>
              <a:t>(m)</a:t>
            </a:r>
            <a:endParaRPr lang="en-US" sz="28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981200" y="4267200"/>
            <a:ext cx="1676400" cy="3048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40184" y="4478694"/>
            <a:ext cx="24804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</a:t>
            </a:r>
            <a:r>
              <a:rPr lang="en-US" sz="2400" dirty="0" smtClean="0"/>
              <a:t>essage/plaintext</a:t>
            </a:r>
            <a:endParaRPr lang="en-US" sz="2400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1981200" y="4940359"/>
            <a:ext cx="1524000" cy="1079442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43200" y="5939137"/>
            <a:ext cx="1536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encryption</a:t>
            </a:r>
            <a:endParaRPr lang="en-US" sz="2400" dirty="0"/>
          </a:p>
        </p:txBody>
      </p:sp>
      <p:cxnSp>
        <p:nvCxnSpPr>
          <p:cNvPr id="28" name="Straight Arrow Connector 27"/>
          <p:cNvCxnSpPr/>
          <p:nvPr/>
        </p:nvCxnSpPr>
        <p:spPr>
          <a:xfrm flipV="1">
            <a:off x="4648200" y="2209800"/>
            <a:ext cx="811808" cy="68580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24400" y="1701801"/>
            <a:ext cx="1455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ciphertext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6468684" y="4267200"/>
            <a:ext cx="1941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</a:t>
            </a:r>
            <a:r>
              <a:rPr lang="en-US" sz="2800" dirty="0" smtClean="0"/>
              <a:t> := Dec</a:t>
            </a:r>
            <a:r>
              <a:rPr lang="en-US" sz="2800" baseline="-25000" dirty="0" smtClean="0"/>
              <a:t>k</a:t>
            </a:r>
            <a:r>
              <a:rPr lang="en-US" sz="2800" dirty="0" smtClean="0"/>
              <a:t>(c)</a:t>
            </a:r>
            <a:endParaRPr lang="en-US" sz="2800" dirty="0"/>
          </a:p>
        </p:txBody>
      </p:sp>
      <p:cxnSp>
        <p:nvCxnSpPr>
          <p:cNvPr id="34" name="Straight Arrow Connector 33"/>
          <p:cNvCxnSpPr>
            <a:stCxn id="33" idx="2"/>
          </p:cNvCxnSpPr>
          <p:nvPr/>
        </p:nvCxnSpPr>
        <p:spPr>
          <a:xfrm flipH="1">
            <a:off x="6629403" y="4790420"/>
            <a:ext cx="810060" cy="84838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97723" y="5562601"/>
            <a:ext cx="15361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decryption</a:t>
            </a:r>
            <a:endParaRPr lang="en-US" sz="2400" dirty="0"/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8251286" y="2057459"/>
            <a:ext cx="283114" cy="106674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33587" y="1537855"/>
            <a:ext cx="605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key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456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7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6" grpId="0" animBg="1"/>
      <p:bldP spid="176137" grpId="0"/>
      <p:bldP spid="4" grpId="0"/>
      <p:bldP spid="4" grpId="1"/>
      <p:bldP spid="5" grpId="0" build="p"/>
      <p:bldP spid="22" grpId="0"/>
      <p:bldP spid="22" grpId="1"/>
      <p:bldP spid="27" grpId="0"/>
      <p:bldP spid="27" grpId="1"/>
      <p:bldP spid="32" grpId="0"/>
      <p:bldP spid="32" grpId="1"/>
      <p:bldP spid="33" grpId="0"/>
      <p:bldP spid="37" grpId="0"/>
      <p:bldP spid="39" grpId="0"/>
      <p:bldP spid="3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encrypted-tbn2.gstatic.com/images?q=tbn:ANd9GcRtTxSbFhZTNqgfopfz6NFQmA0oJvh8YbZl7qN0FGOb7T1LXaX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734" y="2834620"/>
            <a:ext cx="1671866" cy="167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Lupe, Magnifier, Loupe, Glass, Magnify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770" y="4411004"/>
            <a:ext cx="1400829" cy="141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Private-key encryption</a:t>
            </a:r>
            <a:endParaRPr lang="en-US" altLang="en-US" dirty="0"/>
          </a:p>
        </p:txBody>
      </p:sp>
      <p:pic>
        <p:nvPicPr>
          <p:cNvPr id="176132" name="Picture 4" descr="j029202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88" y="1600200"/>
            <a:ext cx="1527175" cy="14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134" name="Text Box 6"/>
          <p:cNvSpPr txBox="1">
            <a:spLocks noChangeArrowheads="1"/>
          </p:cNvSpPr>
          <p:nvPr/>
        </p:nvSpPr>
        <p:spPr bwMode="auto">
          <a:xfrm>
            <a:off x="566228" y="2062875"/>
            <a:ext cx="34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76136" name="Line 8"/>
          <p:cNvSpPr>
            <a:spLocks noChangeShapeType="1"/>
          </p:cNvSpPr>
          <p:nvPr/>
        </p:nvSpPr>
        <p:spPr bwMode="auto">
          <a:xfrm>
            <a:off x="2696402" y="2585268"/>
            <a:ext cx="3704399" cy="7242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76137" name="Text Box 9"/>
          <p:cNvSpPr txBox="1">
            <a:spLocks noChangeArrowheads="1"/>
          </p:cNvSpPr>
          <p:nvPr/>
        </p:nvSpPr>
        <p:spPr bwMode="auto">
          <a:xfrm>
            <a:off x="4303813" y="2311400"/>
            <a:ext cx="357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 smtClean="0">
                <a:solidFill>
                  <a:schemeClr val="tx1"/>
                </a:solidFill>
              </a:rPr>
              <a:t>c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0112" y="2977334"/>
            <a:ext cx="19062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</a:t>
            </a:r>
            <a:endParaRPr lang="en-US" sz="2800" dirty="0" smtClean="0"/>
          </a:p>
          <a:p>
            <a:pPr algn="ctr"/>
            <a:r>
              <a:rPr lang="en-US" sz="2800" dirty="0"/>
              <a:t>c</a:t>
            </a:r>
            <a:r>
              <a:rPr lang="en-US" sz="2800" dirty="0" smtClean="0"/>
              <a:t> := </a:t>
            </a:r>
            <a:r>
              <a:rPr lang="en-US" sz="2800" dirty="0" err="1" smtClean="0"/>
              <a:t>Enc</a:t>
            </a:r>
            <a:r>
              <a:rPr lang="en-US" sz="2800" baseline="-25000" dirty="0" err="1" smtClean="0"/>
              <a:t>k</a:t>
            </a:r>
            <a:r>
              <a:rPr lang="en-US" sz="2800" dirty="0" smtClean="0"/>
              <a:t>(m)</a:t>
            </a:r>
            <a:endParaRPr 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754846" y="6029980"/>
            <a:ext cx="1941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m</a:t>
            </a:r>
            <a:r>
              <a:rPr lang="en-US" sz="2800" dirty="0" smtClean="0"/>
              <a:t> := Dec</a:t>
            </a:r>
            <a:r>
              <a:rPr lang="en-US" sz="2800" baseline="-25000" dirty="0" smtClean="0"/>
              <a:t>k</a:t>
            </a:r>
            <a:r>
              <a:rPr lang="en-US" sz="2800" dirty="0" smtClean="0"/>
              <a:t>(c)</a:t>
            </a:r>
            <a:endParaRPr lang="en-US" sz="2800" dirty="0"/>
          </a:p>
        </p:txBody>
      </p:sp>
      <p:pic>
        <p:nvPicPr>
          <p:cNvPr id="31" name="Picture 4" descr="j029202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88" y="4657609"/>
            <a:ext cx="1527175" cy="144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 Box 6"/>
          <p:cNvSpPr txBox="1">
            <a:spLocks noChangeArrowheads="1"/>
          </p:cNvSpPr>
          <p:nvPr/>
        </p:nvSpPr>
        <p:spPr bwMode="auto">
          <a:xfrm>
            <a:off x="609600" y="5120285"/>
            <a:ext cx="34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US" sz="28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36" name="Line 8"/>
          <p:cNvSpPr>
            <a:spLocks noChangeShapeType="1"/>
          </p:cNvSpPr>
          <p:nvPr/>
        </p:nvSpPr>
        <p:spPr bwMode="auto">
          <a:xfrm flipV="1">
            <a:off x="2696403" y="4152516"/>
            <a:ext cx="3704399" cy="72428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0" name="Text Box 9"/>
          <p:cNvSpPr txBox="1">
            <a:spLocks noChangeArrowheads="1"/>
          </p:cNvSpPr>
          <p:nvPr/>
        </p:nvSpPr>
        <p:spPr bwMode="auto">
          <a:xfrm>
            <a:off x="4303813" y="3937000"/>
            <a:ext cx="357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 smtClean="0">
                <a:solidFill>
                  <a:schemeClr val="tx1"/>
                </a:solidFill>
              </a:rPr>
              <a:t>c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41" name="Text Box 9"/>
          <p:cNvSpPr txBox="1">
            <a:spLocks noChangeArrowheads="1"/>
          </p:cNvSpPr>
          <p:nvPr/>
        </p:nvSpPr>
        <p:spPr bwMode="auto">
          <a:xfrm>
            <a:off x="7086602" y="4582180"/>
            <a:ext cx="357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 smtClean="0">
                <a:solidFill>
                  <a:schemeClr val="tx1"/>
                </a:solidFill>
              </a:rPr>
              <a:t>c</a:t>
            </a:r>
            <a:endParaRPr lang="en-US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3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4" grpId="0"/>
      <p:bldP spid="176136" grpId="0" animBg="1"/>
      <p:bldP spid="176136" grpId="1" animBg="1"/>
      <p:bldP spid="176137" grpId="0"/>
      <p:bldP spid="176137" grpId="1"/>
      <p:bldP spid="5" grpId="0" build="p"/>
      <p:bldP spid="5" grpId="1" build="allAtOnce"/>
      <p:bldP spid="33" grpId="0"/>
      <p:bldP spid="35" grpId="0"/>
      <p:bldP spid="36" grpId="0" animBg="1"/>
      <p:bldP spid="40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Private-key encryption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 </a:t>
            </a:r>
            <a:r>
              <a:rPr lang="en-US" i="1" dirty="0" smtClean="0"/>
              <a:t>private-key encryption scheme</a:t>
            </a:r>
            <a:r>
              <a:rPr lang="en-US" dirty="0" smtClean="0"/>
              <a:t> is defined by a message space </a:t>
            </a:r>
            <a:r>
              <a:rPr lang="en-US" b="1" dirty="0" smtClean="0">
                <a:latin typeface="Monotype Corsiva" panose="03010101010201010101" pitchFamily="66" charset="0"/>
              </a:rPr>
              <a:t>M</a:t>
            </a:r>
            <a:r>
              <a:rPr lang="en-US" dirty="0" smtClean="0"/>
              <a:t> and algorithms (Gen, </a:t>
            </a:r>
            <a:r>
              <a:rPr lang="en-US" dirty="0" err="1" smtClean="0"/>
              <a:t>Enc</a:t>
            </a:r>
            <a:r>
              <a:rPr lang="en-US" dirty="0" smtClean="0"/>
              <a:t>, Dec): </a:t>
            </a:r>
          </a:p>
          <a:p>
            <a:pPr lvl="1"/>
            <a:r>
              <a:rPr lang="en-US" dirty="0" smtClean="0"/>
              <a:t>Gen (key-generation algorithm): outputs </a:t>
            </a:r>
            <a:r>
              <a:rPr lang="en-US" dirty="0" err="1" smtClean="0"/>
              <a:t>k</a:t>
            </a:r>
            <a:r>
              <a:rPr lang="en-US" dirty="0" err="1" smtClean="0">
                <a:sym typeface="Symbol"/>
              </a:rPr>
              <a:t></a:t>
            </a:r>
            <a:r>
              <a:rPr lang="en-US" b="1" dirty="0" err="1" smtClean="0">
                <a:latin typeface="Monotype Corsiva" panose="03010101010201010101" pitchFamily="66" charset="0"/>
                <a:sym typeface="Symbol"/>
              </a:rPr>
              <a:t>K</a:t>
            </a:r>
            <a:endParaRPr lang="en-US" b="1" dirty="0" smtClean="0">
              <a:latin typeface="Monotype Corsiva" panose="03010101010201010101" pitchFamily="66" charset="0"/>
            </a:endParaRPr>
          </a:p>
          <a:p>
            <a:pPr lvl="1"/>
            <a:r>
              <a:rPr lang="en-US" dirty="0" err="1" smtClean="0"/>
              <a:t>Enc</a:t>
            </a:r>
            <a:r>
              <a:rPr lang="en-US" dirty="0" smtClean="0"/>
              <a:t> (encryption algorithm): takes key k and message </a:t>
            </a:r>
            <a:br>
              <a:rPr lang="en-US" dirty="0" smtClean="0"/>
            </a:br>
            <a:r>
              <a:rPr lang="en-US" dirty="0" err="1" smtClean="0"/>
              <a:t>m</a:t>
            </a:r>
            <a:r>
              <a:rPr lang="en-US" dirty="0" err="1" smtClean="0">
                <a:sym typeface="Symbol"/>
              </a:rPr>
              <a:t></a:t>
            </a:r>
            <a:r>
              <a:rPr lang="en-US" b="1" dirty="0" err="1" smtClean="0">
                <a:latin typeface="Monotype Corsiva" panose="03010101010201010101" pitchFamily="66" charset="0"/>
                <a:sym typeface="Symbol"/>
              </a:rPr>
              <a:t>M</a:t>
            </a:r>
            <a:r>
              <a:rPr lang="en-US" dirty="0" smtClean="0"/>
              <a:t> as input; outputs </a:t>
            </a:r>
            <a:r>
              <a:rPr lang="en-US" dirty="0" err="1" smtClean="0"/>
              <a:t>ciphertext</a:t>
            </a:r>
            <a:r>
              <a:rPr lang="en-US" dirty="0" smtClean="0"/>
              <a:t> c </a:t>
            </a:r>
            <a:br>
              <a:rPr lang="en-US" dirty="0" smtClean="0"/>
            </a:br>
            <a:r>
              <a:rPr lang="en-US" dirty="0" smtClean="0"/>
              <a:t>                               </a:t>
            </a:r>
            <a:r>
              <a:rPr lang="en-US" dirty="0" err="1" smtClean="0"/>
              <a:t>c</a:t>
            </a:r>
            <a:r>
              <a:rPr lang="en-US" dirty="0" smtClean="0"/>
              <a:t> </a:t>
            </a:r>
            <a:r>
              <a:rPr lang="en-US" dirty="0">
                <a:sym typeface="Symbol"/>
              </a:rPr>
              <a:t></a:t>
            </a:r>
            <a:r>
              <a:rPr lang="en-US" dirty="0" smtClean="0">
                <a:sym typeface="Symbol"/>
              </a:rPr>
              <a:t> </a:t>
            </a:r>
            <a:r>
              <a:rPr lang="en-US" dirty="0" err="1" smtClean="0"/>
              <a:t>Enc</a:t>
            </a:r>
            <a:r>
              <a:rPr lang="en-US" baseline="-25000" dirty="0" err="1" smtClean="0"/>
              <a:t>k</a:t>
            </a:r>
            <a:r>
              <a:rPr lang="en-US" dirty="0" smtClean="0"/>
              <a:t>(m)</a:t>
            </a:r>
          </a:p>
          <a:p>
            <a:pPr lvl="1"/>
            <a:r>
              <a:rPr lang="en-US" dirty="0" smtClean="0"/>
              <a:t>Dec (decryption algorithm): takes key k and </a:t>
            </a:r>
            <a:br>
              <a:rPr lang="en-US" dirty="0" smtClean="0"/>
            </a:br>
            <a:r>
              <a:rPr lang="en-US" dirty="0" err="1" smtClean="0"/>
              <a:t>ciphertext</a:t>
            </a:r>
            <a:r>
              <a:rPr lang="en-US" dirty="0" smtClean="0"/>
              <a:t> c as input; outputs m or “error”</a:t>
            </a:r>
            <a:br>
              <a:rPr lang="en-US" dirty="0" smtClean="0"/>
            </a:br>
            <a:r>
              <a:rPr lang="en-US" dirty="0" smtClean="0"/>
              <a:t>                               m := Dec</a:t>
            </a:r>
            <a:r>
              <a:rPr lang="en-US" baseline="-25000" dirty="0" smtClean="0"/>
              <a:t>k</a:t>
            </a:r>
            <a:r>
              <a:rPr lang="en-US" dirty="0" smtClean="0"/>
              <a:t>(c)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47800" y="5649110"/>
            <a:ext cx="5638800" cy="954107"/>
          </a:xfrm>
          <a:prstGeom prst="rect">
            <a:avLst/>
          </a:prstGeom>
          <a:ln cap="sq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 smtClean="0">
                <a:solidFill>
                  <a:srgbClr val="000000"/>
                </a:solidFill>
                <a:cs typeface="Arial" charset="0"/>
                <a:sym typeface="Symbol" pitchFamily="18" charset="2"/>
              </a:rPr>
              <a:t>For all </a:t>
            </a:r>
            <a:r>
              <a:rPr lang="en-US" sz="2800" dirty="0" err="1"/>
              <a:t>m</a:t>
            </a:r>
            <a:r>
              <a:rPr lang="en-US" sz="2800" dirty="0" err="1" smtClean="0">
                <a:sym typeface="Symbol"/>
              </a:rPr>
              <a:t></a:t>
            </a:r>
            <a:r>
              <a:rPr lang="en-US" sz="2800" b="1" dirty="0" err="1" smtClean="0">
                <a:latin typeface="Monotype Corsiva" panose="03010101010201010101" pitchFamily="66" charset="0"/>
                <a:sym typeface="Symbol"/>
              </a:rPr>
              <a:t>M</a:t>
            </a:r>
            <a:r>
              <a:rPr lang="en-US" sz="2800" dirty="0" smtClean="0">
                <a:sym typeface="Symbol"/>
              </a:rPr>
              <a:t> and k output by Gen,</a:t>
            </a:r>
            <a:br>
              <a:rPr lang="en-US" sz="2800" dirty="0" smtClean="0">
                <a:sym typeface="Symbol"/>
              </a:rPr>
            </a:br>
            <a:r>
              <a:rPr lang="en-US" sz="2800" dirty="0" smtClean="0">
                <a:sym typeface="Symbol"/>
              </a:rPr>
              <a:t>Dec</a:t>
            </a:r>
            <a:r>
              <a:rPr lang="en-US" sz="2800" baseline="-25000" dirty="0" smtClean="0">
                <a:sym typeface="Symbol"/>
              </a:rPr>
              <a:t>k</a:t>
            </a:r>
            <a:r>
              <a:rPr lang="en-US" sz="2800" dirty="0" smtClean="0">
                <a:sym typeface="Symbol"/>
              </a:rPr>
              <a:t>(</a:t>
            </a:r>
            <a:r>
              <a:rPr lang="en-US" sz="2800" dirty="0" err="1" smtClean="0">
                <a:sym typeface="Symbol"/>
              </a:rPr>
              <a:t>Enc</a:t>
            </a:r>
            <a:r>
              <a:rPr lang="en-US" sz="2800" baseline="-25000" dirty="0" err="1" smtClean="0">
                <a:sym typeface="Symbol"/>
              </a:rPr>
              <a:t>k</a:t>
            </a:r>
            <a:r>
              <a:rPr lang="en-US" sz="2800" dirty="0" smtClean="0">
                <a:sym typeface="Symbol"/>
              </a:rPr>
              <a:t>(m)) = m</a:t>
            </a:r>
            <a:r>
              <a:rPr lang="en-US" sz="2800" dirty="0" smtClean="0">
                <a:solidFill>
                  <a:srgbClr val="000000"/>
                </a:solidFill>
                <a:cs typeface="Arial" charset="0"/>
                <a:sym typeface="Symbol" pitchFamily="18" charset="2"/>
              </a:rPr>
              <a:t> </a:t>
            </a:r>
            <a:endParaRPr lang="en-US" sz="2800" dirty="0">
              <a:solidFill>
                <a:srgbClr val="000000"/>
              </a:solidFill>
              <a:cs typeface="Arial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380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Kerckhoffs’s</a:t>
            </a:r>
            <a:r>
              <a:rPr lang="en-US" dirty="0" smtClean="0"/>
              <a:t>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 smtClean="0"/>
              <a:t>The encryption scheme </a:t>
            </a:r>
            <a:r>
              <a:rPr lang="en-US" dirty="0" smtClean="0"/>
              <a:t>is not secret</a:t>
            </a:r>
          </a:p>
          <a:p>
            <a:pPr lvl="1"/>
            <a:r>
              <a:rPr lang="en-US" dirty="0" smtClean="0"/>
              <a:t>The attacker knows the encryption scheme</a:t>
            </a:r>
          </a:p>
          <a:p>
            <a:pPr lvl="1"/>
            <a:r>
              <a:rPr lang="en-US" dirty="0" smtClean="0"/>
              <a:t>The only secret is the </a:t>
            </a:r>
            <a:r>
              <a:rPr lang="en-US" i="1" dirty="0" smtClean="0"/>
              <a:t>key</a:t>
            </a:r>
          </a:p>
          <a:p>
            <a:pPr lvl="1"/>
            <a:r>
              <a:rPr lang="en-US" dirty="0" smtClean="0"/>
              <a:t>The key must be chosen at random; kept secret</a:t>
            </a:r>
          </a:p>
          <a:p>
            <a:pPr lvl="1"/>
            <a:endParaRPr lang="en-US" dirty="0"/>
          </a:p>
          <a:p>
            <a:r>
              <a:rPr lang="en-US" dirty="0"/>
              <a:t>A</a:t>
            </a:r>
            <a:r>
              <a:rPr lang="en-US" dirty="0" smtClean="0"/>
              <a:t>rguments in favor of this principle</a:t>
            </a:r>
          </a:p>
          <a:p>
            <a:pPr lvl="1"/>
            <a:r>
              <a:rPr lang="en-US" dirty="0" smtClean="0"/>
              <a:t>Easier to keep </a:t>
            </a:r>
            <a:r>
              <a:rPr lang="en-US" i="1" dirty="0" smtClean="0"/>
              <a:t>key</a:t>
            </a:r>
            <a:r>
              <a:rPr lang="en-US" dirty="0" smtClean="0"/>
              <a:t> secret than </a:t>
            </a:r>
            <a:r>
              <a:rPr lang="en-US" i="1" dirty="0" smtClean="0"/>
              <a:t>algorithm</a:t>
            </a:r>
          </a:p>
          <a:p>
            <a:pPr lvl="1"/>
            <a:r>
              <a:rPr lang="en-US" dirty="0" smtClean="0"/>
              <a:t>Easier to change </a:t>
            </a:r>
            <a:r>
              <a:rPr lang="en-US" i="1" dirty="0" smtClean="0"/>
              <a:t>key</a:t>
            </a:r>
            <a:r>
              <a:rPr lang="en-US" dirty="0" smtClean="0"/>
              <a:t> than to change </a:t>
            </a:r>
            <a:r>
              <a:rPr lang="en-US" i="1" dirty="0" smtClean="0"/>
              <a:t>algorithm</a:t>
            </a:r>
          </a:p>
          <a:p>
            <a:pPr lvl="1"/>
            <a:r>
              <a:rPr lang="en-US" dirty="0" smtClean="0"/>
              <a:t>Standardization</a:t>
            </a:r>
          </a:p>
          <a:p>
            <a:pPr lvl="2"/>
            <a:r>
              <a:rPr lang="en-US" dirty="0" smtClean="0"/>
              <a:t>Ease of deployment</a:t>
            </a:r>
          </a:p>
          <a:p>
            <a:pPr lvl="2"/>
            <a:r>
              <a:rPr lang="en-US" dirty="0"/>
              <a:t>P</a:t>
            </a:r>
            <a:r>
              <a:rPr lang="en-US" dirty="0" smtClean="0"/>
              <a:t>ublic scrutiny</a:t>
            </a:r>
          </a:p>
        </p:txBody>
      </p:sp>
    </p:spTree>
    <p:extLst>
      <p:ext uri="{BB962C8B-B14F-4D97-AF65-F5344CB8AC3E}">
        <p14:creationId xmlns:p14="http://schemas.microsoft.com/office/powerpoint/2010/main" val="326322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shift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encrypting English text</a:t>
            </a:r>
          </a:p>
          <a:p>
            <a:r>
              <a:rPr lang="en-US" dirty="0" smtClean="0"/>
              <a:t>Associate ‘a’ with 0; ‘b’ with 1;  …; ‘z’ with </a:t>
            </a:r>
            <a:r>
              <a:rPr lang="en-US" dirty="0" smtClean="0"/>
              <a:t>25</a:t>
            </a:r>
            <a:endParaRPr lang="en-U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k </a:t>
            </a:r>
            <a:r>
              <a:rPr lang="en-US" dirty="0" smtClean="0">
                <a:sym typeface="Symbol"/>
              </a:rPr>
              <a:t> </a:t>
            </a:r>
            <a:r>
              <a:rPr lang="en-US" b="1" dirty="0" smtClean="0">
                <a:latin typeface="Monotype Corsiva" panose="03010101010201010101" pitchFamily="66" charset="0"/>
                <a:sym typeface="Symbol"/>
              </a:rPr>
              <a:t>K </a:t>
            </a:r>
            <a:r>
              <a:rPr lang="en-US" dirty="0" smtClean="0">
                <a:sym typeface="Symbol"/>
              </a:rPr>
              <a:t>= {0, …, 25}</a:t>
            </a:r>
          </a:p>
          <a:p>
            <a:r>
              <a:rPr lang="en-US" dirty="0" smtClean="0">
                <a:sym typeface="Symbol"/>
              </a:rPr>
              <a:t>To encrypt using key k, shift every letter of the plaintext by k positions (with wraparound)</a:t>
            </a:r>
          </a:p>
          <a:p>
            <a:r>
              <a:rPr lang="en-US" dirty="0" smtClean="0">
                <a:sym typeface="Symbol"/>
              </a:rPr>
              <a:t>Decryption just does the reverse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05000" y="5105400"/>
            <a:ext cx="5638800" cy="1384995"/>
          </a:xfrm>
          <a:prstGeom prst="rect">
            <a:avLst/>
          </a:prstGeom>
          <a:ln cap="sq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helloworldz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Symbol" pitchFamily="18" charset="2"/>
            </a:endParaRPr>
          </a:p>
          <a:p>
            <a:pPr algn="ctr">
              <a:defRPr/>
            </a:pPr>
            <a:r>
              <a:rPr lang="en-US" sz="2800" u="sng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ccccccccccc</a:t>
            </a:r>
            <a:r>
              <a:rPr lang="en-US" sz="2800" u="sng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/>
            </a:r>
            <a:b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</a:br>
            <a:r>
              <a:rPr lang="en-US" sz="2800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jgnnqyqtnfb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0170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Modular arithmetic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</a:t>
            </a:r>
            <a:r>
              <a:rPr lang="en-US" dirty="0" smtClean="0"/>
              <a:t> = </a:t>
            </a:r>
            <a:r>
              <a:rPr lang="en-US" dirty="0"/>
              <a:t>y</a:t>
            </a:r>
            <a:r>
              <a:rPr lang="en-US" dirty="0" smtClean="0"/>
              <a:t> mod N if and only if N divides x-y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[x mod N] = </a:t>
            </a:r>
            <a:r>
              <a:rPr lang="en-US" dirty="0">
                <a:sym typeface="Symbol"/>
              </a:rPr>
              <a:t>t</a:t>
            </a:r>
            <a:r>
              <a:rPr lang="en-US" dirty="0" smtClean="0">
                <a:sym typeface="Symbol"/>
              </a:rPr>
              <a:t>he </a:t>
            </a:r>
            <a:r>
              <a:rPr lang="en-US" dirty="0">
                <a:sym typeface="Symbol"/>
              </a:rPr>
              <a:t>remainder when x is divided by N</a:t>
            </a:r>
          </a:p>
          <a:p>
            <a:pPr lvl="1"/>
            <a:r>
              <a:rPr lang="en-US" dirty="0" smtClean="0"/>
              <a:t>I.e., the unique value </a:t>
            </a:r>
            <a:r>
              <a:rPr lang="en-US" dirty="0"/>
              <a:t>y</a:t>
            </a:r>
            <a:r>
              <a:rPr lang="en-US" dirty="0" smtClean="0">
                <a:sym typeface="Symbol"/>
              </a:rPr>
              <a:t>{0, …, N-1} such that 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x = </a:t>
            </a:r>
            <a:r>
              <a:rPr lang="en-US" dirty="0">
                <a:sym typeface="Symbol"/>
              </a:rPr>
              <a:t>y</a:t>
            </a:r>
            <a:r>
              <a:rPr lang="en-US" dirty="0" smtClean="0">
                <a:sym typeface="Symbol"/>
              </a:rPr>
              <a:t> mod N</a:t>
            </a:r>
          </a:p>
          <a:p>
            <a:pPr marL="457200" lvl="1" indent="0">
              <a:buNone/>
            </a:pPr>
            <a:endParaRPr lang="en-US" dirty="0">
              <a:sym typeface="Symbol"/>
            </a:endParaRPr>
          </a:p>
          <a:p>
            <a:r>
              <a:rPr lang="en-US" dirty="0">
                <a:sym typeface="Symbol"/>
              </a:rPr>
              <a:t>2</a:t>
            </a:r>
            <a:r>
              <a:rPr lang="en-US" dirty="0" smtClean="0">
                <a:sym typeface="Symbol"/>
              </a:rPr>
              <a:t>5 = 35 mod 10</a:t>
            </a:r>
          </a:p>
          <a:p>
            <a:r>
              <a:rPr lang="en-US" dirty="0" smtClean="0">
                <a:sym typeface="Symbol"/>
              </a:rPr>
              <a:t>25 ≠ [35 mod 10]</a:t>
            </a:r>
          </a:p>
          <a:p>
            <a:r>
              <a:rPr lang="en-US" dirty="0" smtClean="0">
                <a:sym typeface="Symbol"/>
              </a:rPr>
              <a:t>5 = [35 mod 10] 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8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shift cipher, formally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Monotype Corsiva" panose="03010101010201010101" pitchFamily="66" charset="0"/>
              </a:rPr>
              <a:t>M</a:t>
            </a:r>
            <a:r>
              <a:rPr lang="en-US" dirty="0"/>
              <a:t> = {strings over lowercase English alphabet</a:t>
            </a:r>
            <a:r>
              <a:rPr lang="en-US" dirty="0" smtClean="0"/>
              <a:t>}</a:t>
            </a:r>
          </a:p>
          <a:p>
            <a:r>
              <a:rPr lang="en-US" dirty="0" smtClean="0"/>
              <a:t>Gen: choose uniform k</a:t>
            </a:r>
            <a:r>
              <a:rPr lang="en-US" dirty="0" smtClean="0">
                <a:sym typeface="Symbol"/>
              </a:rPr>
              <a:t>{0, …, 25}</a:t>
            </a:r>
          </a:p>
          <a:p>
            <a:r>
              <a:rPr lang="en-US" dirty="0" err="1" smtClean="0">
                <a:sym typeface="Symbol"/>
              </a:rPr>
              <a:t>Enc</a:t>
            </a:r>
            <a:r>
              <a:rPr lang="en-US" baseline="-25000" dirty="0" err="1" smtClean="0">
                <a:sym typeface="Symbol"/>
              </a:rPr>
              <a:t>k</a:t>
            </a:r>
            <a:r>
              <a:rPr lang="en-US" dirty="0" smtClean="0">
                <a:sym typeface="Symbol"/>
              </a:rPr>
              <a:t>(m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…</a:t>
            </a:r>
            <a:r>
              <a:rPr lang="en-US" dirty="0" err="1" smtClean="0">
                <a:sym typeface="Symbol"/>
              </a:rPr>
              <a:t>m</a:t>
            </a:r>
            <a:r>
              <a:rPr lang="en-US" baseline="-25000" dirty="0" err="1" smtClean="0">
                <a:sym typeface="Symbol"/>
              </a:rPr>
              <a:t>t</a:t>
            </a:r>
            <a:r>
              <a:rPr lang="en-US" dirty="0" smtClean="0">
                <a:sym typeface="Symbol"/>
              </a:rPr>
              <a:t>): output c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…</a:t>
            </a:r>
            <a:r>
              <a:rPr lang="en-US" dirty="0" err="1" smtClean="0">
                <a:sym typeface="Symbol"/>
              </a:rPr>
              <a:t>c</a:t>
            </a:r>
            <a:r>
              <a:rPr lang="en-US" baseline="-25000" dirty="0" err="1" smtClean="0">
                <a:sym typeface="Symbol"/>
              </a:rPr>
              <a:t>t</a:t>
            </a:r>
            <a:r>
              <a:rPr lang="en-US" dirty="0" smtClean="0">
                <a:sym typeface="Symbol"/>
              </a:rPr>
              <a:t>, where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                       c</a:t>
            </a:r>
            <a:r>
              <a:rPr lang="en-US" baseline="-25000" dirty="0" smtClean="0">
                <a:sym typeface="Symbol"/>
              </a:rPr>
              <a:t>i</a:t>
            </a:r>
            <a:r>
              <a:rPr lang="en-US" dirty="0" smtClean="0">
                <a:sym typeface="Symbol"/>
              </a:rPr>
              <a:t> := [m</a:t>
            </a:r>
            <a:r>
              <a:rPr lang="en-US" baseline="-25000" dirty="0" smtClean="0">
                <a:sym typeface="Symbol"/>
              </a:rPr>
              <a:t>i</a:t>
            </a:r>
            <a:r>
              <a:rPr lang="en-US" dirty="0" smtClean="0">
                <a:sym typeface="Symbol"/>
              </a:rPr>
              <a:t> + k mod 26]</a:t>
            </a:r>
          </a:p>
          <a:p>
            <a:r>
              <a:rPr lang="en-US" dirty="0" smtClean="0">
                <a:sym typeface="Symbol"/>
              </a:rPr>
              <a:t>Dec</a:t>
            </a:r>
            <a:r>
              <a:rPr lang="en-US" baseline="-25000" dirty="0" smtClean="0">
                <a:sym typeface="Symbol"/>
              </a:rPr>
              <a:t>k</a:t>
            </a:r>
            <a:r>
              <a:rPr lang="en-US" dirty="0" smtClean="0">
                <a:sym typeface="Symbol"/>
              </a:rPr>
              <a:t>(c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…</a:t>
            </a:r>
            <a:r>
              <a:rPr lang="en-US" dirty="0" err="1" smtClean="0">
                <a:sym typeface="Symbol"/>
              </a:rPr>
              <a:t>c</a:t>
            </a:r>
            <a:r>
              <a:rPr lang="en-US" baseline="-25000" dirty="0" err="1" smtClean="0">
                <a:sym typeface="Symbol"/>
              </a:rPr>
              <a:t>t</a:t>
            </a:r>
            <a:r>
              <a:rPr lang="en-US" dirty="0" smtClean="0">
                <a:sym typeface="Symbol"/>
              </a:rPr>
              <a:t>): output m</a:t>
            </a:r>
            <a:r>
              <a:rPr lang="en-US" baseline="-25000" dirty="0" smtClean="0">
                <a:sym typeface="Symbol"/>
              </a:rPr>
              <a:t>1</a:t>
            </a:r>
            <a:r>
              <a:rPr lang="en-US" dirty="0" smtClean="0">
                <a:sym typeface="Symbol"/>
              </a:rPr>
              <a:t>…</a:t>
            </a:r>
            <a:r>
              <a:rPr lang="en-US" dirty="0" err="1" smtClean="0">
                <a:sym typeface="Symbol"/>
              </a:rPr>
              <a:t>m</a:t>
            </a:r>
            <a:r>
              <a:rPr lang="en-US" baseline="-25000" dirty="0" err="1" smtClean="0">
                <a:sym typeface="Symbol"/>
              </a:rPr>
              <a:t>t</a:t>
            </a:r>
            <a:r>
              <a:rPr lang="en-US" dirty="0" smtClean="0">
                <a:sym typeface="Symbol"/>
              </a:rPr>
              <a:t>, where    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                       m</a:t>
            </a:r>
            <a:r>
              <a:rPr lang="en-US" baseline="-25000" dirty="0" smtClean="0">
                <a:sym typeface="Symbol"/>
              </a:rPr>
              <a:t>i</a:t>
            </a:r>
            <a:r>
              <a:rPr lang="en-US" dirty="0" smtClean="0">
                <a:sym typeface="Symbol"/>
              </a:rPr>
              <a:t> := [c</a:t>
            </a:r>
            <a:r>
              <a:rPr lang="en-US" baseline="-25000" dirty="0" smtClean="0">
                <a:sym typeface="Symbol"/>
              </a:rPr>
              <a:t>i</a:t>
            </a:r>
            <a:r>
              <a:rPr lang="en-US" dirty="0" smtClean="0">
                <a:sym typeface="Symbol"/>
              </a:rPr>
              <a:t> - k mod 26]</a:t>
            </a:r>
          </a:p>
          <a:p>
            <a:endParaRPr lang="en-US" dirty="0">
              <a:sym typeface="Symbol"/>
            </a:endParaRPr>
          </a:p>
          <a:p>
            <a:r>
              <a:rPr lang="en-US" dirty="0" smtClean="0"/>
              <a:t>Can verify that correctness holds…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54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the shift cipher secure?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820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No -- only 26 possible keys!</a:t>
            </a:r>
          </a:p>
          <a:p>
            <a:pPr lvl="1"/>
            <a:r>
              <a:rPr lang="en-US" dirty="0" smtClean="0"/>
              <a:t>Given a </a:t>
            </a:r>
            <a:r>
              <a:rPr lang="en-US" dirty="0" err="1" smtClean="0"/>
              <a:t>ciphertext</a:t>
            </a:r>
            <a:r>
              <a:rPr lang="en-US" dirty="0" smtClean="0"/>
              <a:t>, try decrypting with every possible key</a:t>
            </a:r>
          </a:p>
          <a:p>
            <a:pPr lvl="1"/>
            <a:r>
              <a:rPr lang="en-US" dirty="0"/>
              <a:t>O</a:t>
            </a:r>
            <a:r>
              <a:rPr lang="en-US" dirty="0" smtClean="0"/>
              <a:t>nly one possibility will “make sense”</a:t>
            </a:r>
          </a:p>
          <a:p>
            <a:pPr lvl="1"/>
            <a:r>
              <a:rPr lang="en-US" dirty="0" smtClean="0"/>
              <a:t>(What assumptions are we making here?)</a:t>
            </a:r>
          </a:p>
          <a:p>
            <a:pPr lvl="1"/>
            <a:endParaRPr lang="en-US" dirty="0"/>
          </a:p>
          <a:p>
            <a:r>
              <a:rPr lang="en-US" dirty="0" smtClean="0"/>
              <a:t>Example of a “brute-force” or “exhaustive-search” attack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63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Ciphertext</a:t>
            </a:r>
            <a:r>
              <a:rPr lang="en-US" dirty="0"/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uryybjbeyq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/>
              <a:t>Try every possible key…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qxxaiadxp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pwwzhzcwo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/>
              <a:t>…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helloworld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8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Byte-wise shift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with an alphabet of </a:t>
            </a:r>
            <a:r>
              <a:rPr lang="en-US" i="1" dirty="0" smtClean="0"/>
              <a:t>bytes</a:t>
            </a:r>
            <a:r>
              <a:rPr lang="en-US" dirty="0" smtClean="0"/>
              <a:t> rather than (English, lowercase) </a:t>
            </a:r>
            <a:r>
              <a:rPr lang="en-US" i="1" dirty="0" smtClean="0"/>
              <a:t>letters</a:t>
            </a:r>
          </a:p>
          <a:p>
            <a:pPr lvl="1"/>
            <a:r>
              <a:rPr lang="en-US" dirty="0" smtClean="0"/>
              <a:t>Works natively for arbitrary data!</a:t>
            </a:r>
          </a:p>
          <a:p>
            <a:endParaRPr lang="en-US" dirty="0" smtClean="0"/>
          </a:p>
          <a:p>
            <a:r>
              <a:rPr lang="en-US" dirty="0" smtClean="0"/>
              <a:t>Use XOR instead of modular addition</a:t>
            </a:r>
          </a:p>
          <a:p>
            <a:pPr lvl="1"/>
            <a:r>
              <a:rPr lang="en-US" dirty="0" smtClean="0"/>
              <a:t>Essential properties still hold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3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(base 16)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381000" y="1701800"/>
          <a:ext cx="3810000" cy="480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1676400"/>
                <a:gridCol w="1295400"/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Hex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Bits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(“nibble”)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Decimal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0000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0001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0010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2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0011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0100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0101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0110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0111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 marT="60960" marB="60960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4876800" y="1701800"/>
          <a:ext cx="3733800" cy="4809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1676400"/>
                <a:gridCol w="1219200"/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Hex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Bits (“nibble”)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Decimal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1000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1001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1010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B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1011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1100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12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1101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13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E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1110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14</a:t>
                      </a:r>
                      <a:endParaRPr lang="en-US" sz="2400" dirty="0"/>
                    </a:p>
                  </a:txBody>
                  <a:tcPr marT="60960" marB="60960"/>
                </a:tc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F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1111</a:t>
                      </a:r>
                      <a:endParaRPr lang="en-US" sz="2400" dirty="0"/>
                    </a:p>
                  </a:txBody>
                  <a:tcPr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15</a:t>
                      </a:r>
                      <a:endParaRPr lang="en-US" sz="2400" dirty="0"/>
                    </a:p>
                  </a:txBody>
                  <a:tcPr marT="60960" marB="6096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66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Hexadecimal (base 16)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0x10</a:t>
            </a:r>
          </a:p>
          <a:p>
            <a:pPr lvl="1"/>
            <a:r>
              <a:rPr lang="en-US" dirty="0" smtClean="0"/>
              <a:t>0x10 = 16*1 + 0 = 16</a:t>
            </a:r>
          </a:p>
          <a:p>
            <a:pPr lvl="1"/>
            <a:r>
              <a:rPr lang="en-US" dirty="0" smtClean="0"/>
              <a:t>0x10 = 0001 0000</a:t>
            </a:r>
          </a:p>
          <a:p>
            <a:endParaRPr lang="en-US" dirty="0"/>
          </a:p>
          <a:p>
            <a:r>
              <a:rPr lang="en-US" dirty="0" smtClean="0"/>
              <a:t>0xAF</a:t>
            </a:r>
          </a:p>
          <a:p>
            <a:pPr lvl="1"/>
            <a:r>
              <a:rPr lang="en-US" dirty="0" smtClean="0"/>
              <a:t>0xAF = 16*A + </a:t>
            </a:r>
            <a:r>
              <a:rPr lang="en-US" dirty="0"/>
              <a:t>F</a:t>
            </a:r>
            <a:r>
              <a:rPr lang="en-US" dirty="0" smtClean="0"/>
              <a:t> = 16*10 + 15 = 175</a:t>
            </a:r>
          </a:p>
          <a:p>
            <a:pPr lvl="1"/>
            <a:r>
              <a:rPr lang="en-US" dirty="0" smtClean="0"/>
              <a:t>0xAF = 1010 1111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852</Words>
  <Application>Microsoft Macintosh PowerPoint</Application>
  <PresentationFormat>On-screen Show (4:3)</PresentationFormat>
  <Paragraphs>234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Courier New</vt:lpstr>
      <vt:lpstr>Monotype Corsiva</vt:lpstr>
      <vt:lpstr>Symbol</vt:lpstr>
      <vt:lpstr>Arial</vt:lpstr>
      <vt:lpstr>Wingdings</vt:lpstr>
      <vt:lpstr>Office Theme</vt:lpstr>
      <vt:lpstr>Cryptography</vt:lpstr>
      <vt:lpstr>Goals</vt:lpstr>
      <vt:lpstr>Course non-goals</vt:lpstr>
      <vt:lpstr>Cryptography (historically)</vt:lpstr>
      <vt:lpstr>Modern cryptography</vt:lpstr>
      <vt:lpstr>Modern cryptography</vt:lpstr>
      <vt:lpstr>Cryptography (historically)</vt:lpstr>
      <vt:lpstr>Modern cryptography</vt:lpstr>
      <vt:lpstr>Cryptography (historically)</vt:lpstr>
      <vt:lpstr>Modern cryptography</vt:lpstr>
      <vt:lpstr>Rough course outline</vt:lpstr>
      <vt:lpstr>Classical Cryptography</vt:lpstr>
      <vt:lpstr>Motivation</vt:lpstr>
      <vt:lpstr>Classical cryptography</vt:lpstr>
      <vt:lpstr>Classical cryptography</vt:lpstr>
      <vt:lpstr>Private-key encryption</vt:lpstr>
      <vt:lpstr>Private-key encryption</vt:lpstr>
      <vt:lpstr>Private-key encryption</vt:lpstr>
      <vt:lpstr>Kerckhoffs’s principle</vt:lpstr>
      <vt:lpstr>The shift cipher</vt:lpstr>
      <vt:lpstr>Modular arithmetic</vt:lpstr>
      <vt:lpstr>The shift cipher, formally</vt:lpstr>
      <vt:lpstr>Is the shift cipher secure?</vt:lpstr>
      <vt:lpstr>Example</vt:lpstr>
      <vt:lpstr>Byte-wise shift cipher</vt:lpstr>
      <vt:lpstr>Hexadecimal (base 16)</vt:lpstr>
      <vt:lpstr>Hexadecimal (base 16)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Cryptography</dc:title>
  <dc:creator>katz</dc:creator>
  <cp:lastModifiedBy>Priscila Priscila</cp:lastModifiedBy>
  <cp:revision>186</cp:revision>
  <dcterms:created xsi:type="dcterms:W3CDTF">2014-06-02T02:25:30Z</dcterms:created>
  <dcterms:modified xsi:type="dcterms:W3CDTF">2025-08-21T06:48:21Z</dcterms:modified>
</cp:coreProperties>
</file>