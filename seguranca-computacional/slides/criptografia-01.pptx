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6.xml" ContentType="application/vnd.openxmlformats-officedocument.presentationml.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3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9144000" cy="6858000" type="screen4x3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02" d="100"/>
          <a:sy n="102" d="100"/>
        </p:scale>
        <p:origin x="904" y="176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 /><Relationship Id="rId33" Type="http://schemas.openxmlformats.org/officeDocument/2006/relationships/tableStyles" Target="tableStyles.xml" /><Relationship Id="rId3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10105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7567614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FBF7E19-5E58-4A0D-942E-F728F20487D2}" type="datetimeFigureOut">
              <a:rPr lang="en-US"/>
              <a:t>8/21/25</a:t>
            </a:fld>
            <a:endParaRPr lang="en-US"/>
          </a:p>
        </p:txBody>
      </p:sp>
      <p:sp>
        <p:nvSpPr>
          <p:cNvPr id="191916383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2648412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468541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833291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BA42AE6-878C-46A5-A432-87C112332D23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7F8E97-27AE-E772-2444-6EBDBE3F48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A7D8B0-9BF3-1E56-EE71-33F59C7D16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35866C-F6A9-5228-7A28-033067BEFD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BC7541-5B0F-A459-F665-5A8E210ED2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112D9E-09D7-C4D4-1B3A-8DBE9622D99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061559-6CBC-4830-F473-0CD70ADE8A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025217-856C-347F-90B8-09E671370D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8C508A-42F9-C062-7A34-66B6EE47AE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BA15C-09F3-18B7-26D5-69D994A846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2D870E-C983-7F2B-05C8-0C67C5C67D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091C11-3EC6-DD1F-F288-FA712540678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7B2F3A-79D9-EC55-2417-3E77813881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00CAA0-A67A-6479-20E4-FBCC3D9FC4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1E7DCF-926E-C3C1-9BC4-4DDA924F091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080144-5760-A7A0-6569-CF186802D8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FB2DE2-91D6-8336-4910-DDB68ED595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5E8866-CB4D-0239-CC20-5165C3200F7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7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1787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450285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1B1C1-4018-4783-B9D9-7FBE5892ED73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60F4F-FE28-6B06-C192-6FE85517F3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AC1D8F-B821-C490-AF28-5E9A86F543E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64C341-4433-D246-5792-1B99B8F057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46AACA-973C-C4CE-1800-DAD083D6DC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C1886B-C0F1-5C47-7DC4-8736426B57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20C0CE-4A48-9774-7077-A6430F952F0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315E36-424C-4809-D937-9C7358DE29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1F1E98-E818-6554-6643-DE5603A4C2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F80536-5CA8-C2EB-4B24-7463EC67729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378866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6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9818360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140826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8705799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49879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2067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75651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09200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1410468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07350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1158635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50449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782053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0134852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38976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2198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692294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2140480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098675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63193536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217772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121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346236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5876453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6789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5307762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779034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73676842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565279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637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1683561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86134234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808877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1167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9707546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639736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2368259" name="Title 1"/>
          <p:cNvSpPr>
            <a:spLocks noGrp="1"/>
          </p:cNvSpPr>
          <p:nvPr>
            <p:ph type="title"/>
          </p:nvPr>
        </p:nvSpPr>
        <p:spPr bwMode="auto"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8622019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423521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504912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147133091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09821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104345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5503246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9152556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6267523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36044138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539905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5793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3078660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258340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722699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0568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41101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9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13150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9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680446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6307056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53930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757291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296621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01200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12898CC-5660-44C1-B068-F179A9DC2F99}" type="datetimeFigureOut">
              <a:rPr lang="en-US"/>
              <a:t>8/21/25</a:t>
            </a:fld>
            <a:endParaRPr lang="en-US"/>
          </a:p>
        </p:txBody>
      </p:sp>
      <p:sp>
        <p:nvSpPr>
          <p:cNvPr id="33796735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5162375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ABEBD89-05F3-4F96-A315-DC3652376F0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media1.svg"/><Relationship Id="rId6" Type="http://schemas.openxmlformats.org/officeDocument/2006/relationships/image" Target="../media/image3.png"/><Relationship Id="rId7" Type="http://schemas.openxmlformats.org/officeDocument/2006/relationships/image" Target="../media/media2.sv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968731" name="Title 1"/>
          <p:cNvSpPr>
            <a:spLocks noGrp="1"/>
          </p:cNvSpPr>
          <p:nvPr>
            <p:ph type="ctrTitle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 sz="5400"/>
              <a:t>Cryptography</a:t>
            </a:r>
            <a:endParaRPr lang="en-US" sz="5400"/>
          </a:p>
        </p:txBody>
      </p:sp>
      <p:sp>
        <p:nvSpPr>
          <p:cNvPr id="273121310" name="Subtitle 2"/>
          <p:cNvSpPr>
            <a:spLocks noGrp="1"/>
          </p:cNvSpPr>
          <p:nvPr>
            <p:ph type="subTitle"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 sz="4000" i="1">
                <a:solidFill>
                  <a:schemeClr val="tx1"/>
                </a:solidFill>
              </a:rPr>
              <a:t>Lecture 1</a:t>
            </a:r>
            <a:endParaRPr lang="en-US" sz="4000" i="1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1511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Goals</a:t>
            </a:r>
            <a:endParaRPr lang="en-US"/>
          </a:p>
        </p:txBody>
      </p:sp>
      <p:sp>
        <p:nvSpPr>
          <p:cNvPr id="1673712647" name="Content Placeholder 2"/>
          <p:cNvSpPr>
            <a:spLocks noGrp="1"/>
          </p:cNvSpPr>
          <p:nvPr>
            <p:ph idx="1"/>
          </p:nvPr>
        </p:nvSpPr>
        <p:spPr bwMode="auto">
          <a:xfrm>
            <a:off x="457200" y="1600201"/>
            <a:ext cx="8229600" cy="480059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/>
              <a:t>Understand the </a:t>
            </a:r>
            <a:r>
              <a:rPr lang="en-US" i="1"/>
              <a:t>theoretical basis </a:t>
            </a:r>
            <a:r>
              <a:rPr lang="en-US"/>
              <a:t>for </a:t>
            </a:r>
            <a:r>
              <a:rPr lang="en-US" i="1"/>
              <a:t>real-world crypto</a:t>
            </a:r>
            <a:r>
              <a:rPr lang="en-US"/>
              <a:t> </a:t>
            </a:r>
            <a:endParaRPr/>
          </a:p>
          <a:p>
            <a:pPr>
              <a:defRPr/>
            </a:pPr>
            <a:r>
              <a:rPr lang="en-US"/>
              <a:t>When you encounter crypto in your career:</a:t>
            </a:r>
            <a:endParaRPr/>
          </a:p>
          <a:p>
            <a:pPr lvl="1">
              <a:defRPr/>
            </a:pPr>
            <a:r>
              <a:rPr lang="en-US"/>
              <a:t>Understand the key terms</a:t>
            </a:r>
            <a:endParaRPr/>
          </a:p>
          <a:p>
            <a:pPr lvl="1">
              <a:defRPr/>
            </a:pPr>
            <a:r>
              <a:rPr lang="en-US"/>
              <a:t>Understand the security guarantees needed/provided</a:t>
            </a:r>
            <a:endParaRPr/>
          </a:p>
          <a:p>
            <a:pPr lvl="1">
              <a:defRPr/>
            </a:pPr>
            <a:r>
              <a:rPr lang="en-US"/>
              <a:t>Know how to use crypto</a:t>
            </a:r>
            <a:endParaRPr/>
          </a:p>
          <a:p>
            <a:pPr lvl="1">
              <a:defRPr/>
            </a:pPr>
            <a:r>
              <a:rPr lang="en-US"/>
              <a:t>Understand what goes on “under the hood”</a:t>
            </a:r>
            <a:endParaRPr/>
          </a:p>
          <a:p>
            <a:pPr>
              <a:defRPr/>
            </a:pPr>
            <a:r>
              <a:rPr lang="en-US"/>
              <a:t>“Crypto mindset”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2166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Course non-goals</a:t>
            </a:r>
            <a:endParaRPr lang="en-US"/>
          </a:p>
        </p:txBody>
      </p:sp>
      <p:sp>
        <p:nvSpPr>
          <p:cNvPr id="12747061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Designing your own crypto schemes</a:t>
            </a:r>
            <a:endParaRPr/>
          </a:p>
          <a:p>
            <a:pPr lvl="1">
              <a:defRPr/>
            </a:pPr>
            <a:r>
              <a:rPr lang="en-US"/>
              <a:t>This is hard!</a:t>
            </a:r>
            <a:endParaRPr/>
          </a:p>
          <a:p>
            <a:pPr>
              <a:defRPr/>
            </a:pPr>
            <a:r>
              <a:rPr lang="en-US"/>
              <a:t>Implementing crypto for real-world use</a:t>
            </a:r>
            <a:endParaRPr/>
          </a:p>
          <a:p>
            <a:pPr lvl="1">
              <a:defRPr/>
            </a:pPr>
            <a:r>
              <a:rPr lang="en-US"/>
              <a:t>This is hard!</a:t>
            </a:r>
            <a:endParaRPr/>
          </a:p>
          <a:p>
            <a:pPr marL="742950" lvl="2" indent="-342900">
              <a:defRPr/>
            </a:pPr>
            <a:endParaRPr lang="en-US"/>
          </a:p>
          <a:p>
            <a:pPr marL="0" indent="-400050">
              <a:defRPr/>
            </a:pPr>
            <a:r>
              <a:rPr lang="en-US"/>
              <a:t>Course goal: </a:t>
            </a:r>
            <a:br>
              <a:rPr lang="en-US"/>
            </a:br>
            <a:r>
              <a:rPr lang="en-US"/>
              <a:t>    realize when </a:t>
            </a:r>
            <a:r>
              <a:rPr lang="en-US"/>
              <a:t>to consult an </a:t>
            </a:r>
            <a:r>
              <a:rPr lang="en-US"/>
              <a:t>expert!</a:t>
            </a:r>
            <a:endParaRPr lang="en-US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706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706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706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706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706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4706185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036470" name="Rectangl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Cryptography (historically)</a:t>
            </a:r>
            <a:endParaRPr lang="en-US"/>
          </a:p>
        </p:txBody>
      </p:sp>
      <p:sp>
        <p:nvSpPr>
          <p:cNvPr id="766528558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Font typeface="Wingdings"/>
              <a:buNone/>
              <a:defRPr/>
            </a:pPr>
            <a:r>
              <a:rPr lang="en-US"/>
              <a:t>     “…the art of writing or solving codes…”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Historically</a:t>
            </a:r>
            <a:r>
              <a:rPr lang="en-US"/>
              <a:t>, cryptography </a:t>
            </a:r>
            <a:r>
              <a:rPr lang="en-US"/>
              <a:t>focused exclusively on ensuring </a:t>
            </a:r>
            <a:r>
              <a:rPr lang="en-US" i="1"/>
              <a:t>private communication</a:t>
            </a:r>
            <a:r>
              <a:rPr lang="en-US"/>
              <a:t> </a:t>
            </a:r>
            <a:br>
              <a:rPr lang="en-US"/>
            </a:br>
            <a:r>
              <a:rPr lang="en-US"/>
              <a:t>between two parties sharing secret information in advance using “codes” (aka</a:t>
            </a:r>
            <a:br>
              <a:rPr lang="en-US"/>
            </a:br>
            <a:r>
              <a:rPr lang="en-US" i="1"/>
              <a:t>private-key encryption</a:t>
            </a:r>
            <a:r>
              <a:rPr lang="en-US"/>
              <a:t>)</a:t>
            </a:r>
            <a:endParaRPr/>
          </a:p>
          <a:p>
            <a:pPr>
              <a:defRPr/>
            </a:pP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5285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652855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89172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Modern cryptography</a:t>
            </a:r>
            <a:endParaRPr lang="en-US"/>
          </a:p>
        </p:txBody>
      </p:sp>
      <p:sp>
        <p:nvSpPr>
          <p:cNvPr id="1617137165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/>
              <a:t>Much broader scope!</a:t>
            </a:r>
            <a:endParaRPr/>
          </a:p>
          <a:p>
            <a:pPr lvl="1">
              <a:defRPr/>
            </a:pPr>
            <a:r>
              <a:rPr lang="en-US"/>
              <a:t>Data integrity, authentication, protocols, …</a:t>
            </a:r>
            <a:endParaRPr/>
          </a:p>
          <a:p>
            <a:pPr lvl="1">
              <a:defRPr/>
            </a:pPr>
            <a:r>
              <a:rPr lang="en-US"/>
              <a:t>The </a:t>
            </a:r>
            <a:r>
              <a:rPr lang="en-US" i="1"/>
              <a:t>public-key setting</a:t>
            </a:r>
            <a:endParaRPr lang="en-US"/>
          </a:p>
          <a:p>
            <a:pPr lvl="1">
              <a:defRPr/>
            </a:pPr>
            <a:r>
              <a:rPr lang="en-US"/>
              <a:t>Group </a:t>
            </a:r>
            <a:r>
              <a:rPr lang="en-US"/>
              <a:t>communication</a:t>
            </a:r>
            <a:endParaRPr/>
          </a:p>
          <a:p>
            <a:pPr lvl="1">
              <a:defRPr/>
            </a:pPr>
            <a:r>
              <a:rPr lang="en-US"/>
              <a:t>More-complicated trust models</a:t>
            </a:r>
            <a:endParaRPr/>
          </a:p>
          <a:p>
            <a:pPr lvl="1">
              <a:defRPr/>
            </a:pPr>
            <a:r>
              <a:rPr lang="en-US"/>
              <a:t>Foundations (e.g., number theory, quantum-resistance) to systems (e.g., electronic voting, </a:t>
            </a:r>
            <a:r>
              <a:rPr lang="en-US"/>
              <a:t>blockchain</a:t>
            </a:r>
            <a:r>
              <a:rPr lang="en-US"/>
              <a:t>, </a:t>
            </a:r>
            <a:r>
              <a:rPr lang="en-US"/>
              <a:t>cryptocurrencies</a:t>
            </a:r>
            <a:r>
              <a:rPr lang="en-US"/>
              <a:t>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1870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Modern cryptography</a:t>
            </a:r>
            <a:endParaRPr lang="en-US"/>
          </a:p>
        </p:txBody>
      </p:sp>
      <p:sp>
        <p:nvSpPr>
          <p:cNvPr id="78157249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lvl="1" indent="0" algn="ctr">
              <a:buNone/>
              <a:defRPr/>
            </a:pPr>
            <a:endParaRPr lang="en-US" i="1"/>
          </a:p>
          <a:p>
            <a:pPr marL="0" lvl="1" indent="0" algn="ctr">
              <a:buNone/>
              <a:defRPr/>
            </a:pPr>
            <a:endParaRPr lang="en-US" i="1"/>
          </a:p>
          <a:p>
            <a:pPr marL="0" lvl="1" indent="0" algn="ctr">
              <a:buNone/>
              <a:defRPr/>
            </a:pPr>
            <a:r>
              <a:rPr lang="en-US" i="1"/>
              <a:t>Design</a:t>
            </a:r>
            <a:r>
              <a:rPr lang="en-US" i="1"/>
              <a:t>, analysis, and implementation of </a:t>
            </a:r>
            <a:r>
              <a:rPr lang="en-US" b="1" i="1"/>
              <a:t>mathematical techniques </a:t>
            </a:r>
            <a:r>
              <a:rPr lang="en-US" i="1"/>
              <a:t>for securing information, systems, and </a:t>
            </a:r>
            <a:r>
              <a:rPr lang="en-US" i="1"/>
              <a:t>distributed computations </a:t>
            </a:r>
            <a:r>
              <a:rPr lang="en-US" i="1"/>
              <a:t>against adversarial </a:t>
            </a:r>
            <a:r>
              <a:rPr lang="en-US" i="1"/>
              <a:t>attack</a:t>
            </a:r>
            <a:endParaRPr lang="en-US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4857711" name="Rectangl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Cryptography (historically)</a:t>
            </a:r>
            <a:endParaRPr lang="en-US"/>
          </a:p>
        </p:txBody>
      </p:sp>
      <p:sp>
        <p:nvSpPr>
          <p:cNvPr id="2045104200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buFont typeface="Wingdings"/>
              <a:buNone/>
              <a:defRPr/>
            </a:pPr>
            <a:r>
              <a:rPr lang="en-US"/>
              <a:t>     “…the art of writing or solving codes…”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Historically</a:t>
            </a:r>
            <a:r>
              <a:rPr lang="en-US"/>
              <a:t>, </a:t>
            </a:r>
            <a:r>
              <a:rPr lang="en-US"/>
              <a:t>cryptography was an </a:t>
            </a:r>
            <a:r>
              <a:rPr lang="en-US" i="1"/>
              <a:t>art</a:t>
            </a:r>
            <a:endParaRPr/>
          </a:p>
          <a:p>
            <a:pPr lvl="1">
              <a:defRPr/>
            </a:pPr>
            <a:r>
              <a:rPr lang="en-US"/>
              <a:t>Heuristic, unprincipled design and analysis</a:t>
            </a:r>
            <a:endParaRPr/>
          </a:p>
          <a:p>
            <a:pPr lvl="1">
              <a:defRPr/>
            </a:pPr>
            <a:r>
              <a:rPr lang="en-US"/>
              <a:t>Schemes proposed, broken, repeat…</a:t>
            </a:r>
            <a:endParaRPr/>
          </a:p>
          <a:p>
            <a:pPr>
              <a:defRPr/>
            </a:pP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51042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51042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51042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510420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594592" name="Rectangl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Modern cryptography</a:t>
            </a:r>
            <a:endParaRPr/>
          </a:p>
        </p:txBody>
      </p:sp>
      <p:sp>
        <p:nvSpPr>
          <p:cNvPr id="883394684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/>
              <a:t>Cryptography is </a:t>
            </a:r>
            <a:r>
              <a:rPr lang="en-US"/>
              <a:t>now much more of a </a:t>
            </a:r>
            <a:r>
              <a:rPr lang="en-US" i="1"/>
              <a:t>science</a:t>
            </a:r>
            <a:endParaRPr/>
          </a:p>
          <a:p>
            <a:pPr lvl="1">
              <a:defRPr/>
            </a:pPr>
            <a:r>
              <a:rPr lang="en-US"/>
              <a:t>Rigorous </a:t>
            </a:r>
            <a:r>
              <a:rPr lang="en-US"/>
              <a:t>analysis, firm </a:t>
            </a:r>
            <a:r>
              <a:rPr lang="en-US"/>
              <a:t>foundations, deeper understanding, rich </a:t>
            </a:r>
            <a:r>
              <a:rPr lang="en-US"/>
              <a:t>theory</a:t>
            </a:r>
            <a:endParaRPr/>
          </a:p>
          <a:p>
            <a:pPr lvl="1">
              <a:defRPr/>
            </a:pPr>
            <a:endParaRPr lang="en-US"/>
          </a:p>
          <a:p>
            <a:pPr>
              <a:defRPr/>
            </a:pPr>
            <a:r>
              <a:rPr lang="en-US"/>
              <a:t>The “crypto mindset” has permeated </a:t>
            </a:r>
            <a:br>
              <a:rPr lang="en-US"/>
            </a:br>
            <a:r>
              <a:rPr lang="en-US"/>
              <a:t>other areas of computer security</a:t>
            </a:r>
            <a:endParaRPr/>
          </a:p>
          <a:p>
            <a:pPr lvl="1">
              <a:defRPr/>
            </a:pPr>
            <a:r>
              <a:rPr lang="en-US"/>
              <a:t>Threat modeling</a:t>
            </a:r>
            <a:endParaRPr/>
          </a:p>
          <a:p>
            <a:pPr lvl="1">
              <a:defRPr/>
            </a:pPr>
            <a:r>
              <a:rPr lang="en-US"/>
              <a:t>Proofs of security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0867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Cryptography (historically)</a:t>
            </a:r>
            <a:endParaRPr lang="en-US"/>
          </a:p>
        </p:txBody>
      </p:sp>
      <p:sp>
        <p:nvSpPr>
          <p:cNvPr id="7961979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Used primarily for military/government applications, plus a few niche applications in industry (e.g., banking)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1417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Modern cryptography</a:t>
            </a:r>
            <a:endParaRPr lang="en-US"/>
          </a:p>
        </p:txBody>
      </p:sp>
      <p:sp>
        <p:nvSpPr>
          <p:cNvPr id="47135858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/>
              <a:t>Cryptography is ubiquitous!</a:t>
            </a:r>
            <a:endParaRPr/>
          </a:p>
          <a:p>
            <a:pPr lvl="1">
              <a:defRPr/>
            </a:pPr>
            <a:r>
              <a:rPr lang="en-US"/>
              <a:t>Password-based authentication, password hashing</a:t>
            </a:r>
            <a:endParaRPr/>
          </a:p>
          <a:p>
            <a:pPr lvl="1">
              <a:defRPr/>
            </a:pPr>
            <a:r>
              <a:rPr lang="en-US"/>
              <a:t>Secure credit-card transactions over the internet</a:t>
            </a:r>
            <a:endParaRPr/>
          </a:p>
          <a:p>
            <a:pPr lvl="1">
              <a:defRPr/>
            </a:pPr>
            <a:r>
              <a:rPr lang="en-US"/>
              <a:t>Encrypted </a:t>
            </a:r>
            <a:r>
              <a:rPr lang="en-US"/>
              <a:t>WiFi</a:t>
            </a:r>
            <a:endParaRPr lang="en-US"/>
          </a:p>
          <a:p>
            <a:pPr lvl="1">
              <a:defRPr/>
            </a:pPr>
            <a:r>
              <a:rPr lang="en-US"/>
              <a:t>Disk encryption</a:t>
            </a:r>
            <a:endParaRPr/>
          </a:p>
          <a:p>
            <a:pPr lvl="1">
              <a:defRPr/>
            </a:pPr>
            <a:r>
              <a:rPr lang="en-US"/>
              <a:t>Digitally signed software updates</a:t>
            </a:r>
            <a:endParaRPr/>
          </a:p>
          <a:p>
            <a:pPr lvl="1">
              <a:defRPr/>
            </a:pPr>
            <a:r>
              <a:rPr lang="en-US"/>
              <a:t>Bitcoin</a:t>
            </a:r>
            <a:endParaRPr lang="en-US"/>
          </a:p>
          <a:p>
            <a:pPr lvl="1">
              <a:defRPr/>
            </a:pPr>
            <a:r>
              <a:rPr lang="en-US"/>
              <a:t>…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3766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Rough course outline</a:t>
            </a:r>
            <a:endParaRPr lang="en-US"/>
          </a:p>
        </p:txBody>
      </p:sp>
      <p:sp>
        <p:nvSpPr>
          <p:cNvPr id="169670847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Building blocks</a:t>
            </a:r>
            <a:endParaRPr/>
          </a:p>
          <a:p>
            <a:pPr lvl="1">
              <a:defRPr/>
            </a:pPr>
            <a:r>
              <a:rPr lang="en-US"/>
              <a:t>Pseudorandom (number) generators</a:t>
            </a:r>
            <a:endParaRPr/>
          </a:p>
          <a:p>
            <a:pPr lvl="1">
              <a:defRPr/>
            </a:pPr>
            <a:r>
              <a:rPr lang="en-US"/>
              <a:t>Pseudorandom functions/block ciphers</a:t>
            </a:r>
            <a:endParaRPr/>
          </a:p>
          <a:p>
            <a:pPr lvl="1">
              <a:defRPr/>
            </a:pPr>
            <a:r>
              <a:rPr lang="en-US"/>
              <a:t>Hash functions</a:t>
            </a:r>
            <a:endParaRPr/>
          </a:p>
          <a:p>
            <a:pPr lvl="1">
              <a:defRPr/>
            </a:pPr>
            <a:r>
              <a:rPr lang="en-US"/>
              <a:t>Number theory</a:t>
            </a:r>
            <a:endParaRPr/>
          </a:p>
          <a:p>
            <a:pPr lvl="1">
              <a:defRPr/>
            </a:pPr>
            <a:endParaRPr lang="en-US"/>
          </a:p>
        </p:txBody>
      </p:sp>
      <p:graphicFrame>
        <p:nvGraphicFramePr>
          <p:cNvPr id="1099099142" name="Table 3"/>
          <p:cNvGraphicFramePr>
            <a:graphicFrameLocks xmlns:a="http://schemas.openxmlformats.org/drawingml/2006/main" noGrp="1"/>
          </p:cNvGraphicFramePr>
          <p:nvPr/>
        </p:nvGraphicFramePr>
        <p:xfrm rot="0">
          <a:off x="1524000" y="1524000"/>
          <a:ext cx="6324600" cy="165100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32000"/>
                <a:gridCol w="2032000"/>
                <a:gridCol w="2260600"/>
              </a:tblGrid>
              <a:tr h="370840">
                <a:tc>
                  <a:txBody>
                    <a:bodyPr/>
                    <a:p>
                      <a:pPr>
                        <a:defRPr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solidFill>
                            <a:schemeClr val="tx1"/>
                          </a:solidFill>
                        </a:rPr>
                        <a:t>Secrecy</a:t>
                      </a:r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solidFill>
                            <a:schemeClr val="tx1"/>
                          </a:solidFill>
                        </a:rPr>
                        <a:t>Integrity</a:t>
                      </a:r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b="1"/>
                        <a:t>Private-key setting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Private-key encryption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Message authentication codes</a:t>
                      </a:r>
                      <a:endParaRPr lang="en-US"/>
                    </a:p>
                  </a:txBody>
                  <a:tcPr/>
                </a:tc>
              </a:tr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b="1"/>
                        <a:t>Public-key setting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Public-key encryption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Digital</a:t>
                      </a:r>
                      <a:r>
                        <a:rPr lang="en-US"/>
                        <a:t> signatures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67084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67084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67084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67084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67084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670847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674244" name="Title 1"/>
          <p:cNvSpPr>
            <a:spLocks noGrp="1"/>
          </p:cNvSpPr>
          <p:nvPr>
            <p:ph type="ctrTitle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 sz="5400"/>
              <a:t>Classical Cryptography</a:t>
            </a:r>
            <a:endParaRPr lang="en-US" sz="5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908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Motivation</a:t>
            </a:r>
            <a:endParaRPr lang="en-US"/>
          </a:p>
        </p:txBody>
      </p:sp>
      <p:sp>
        <p:nvSpPr>
          <p:cNvPr id="113146490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Allows us to “ease into things…,” introduce notation</a:t>
            </a:r>
            <a:endParaRPr/>
          </a:p>
          <a:p>
            <a:pPr>
              <a:defRPr/>
            </a:pPr>
            <a:r>
              <a:rPr lang="en-US"/>
              <a:t>Shows why unprincipled approaches are dangerous</a:t>
            </a:r>
            <a:endParaRPr/>
          </a:p>
          <a:p>
            <a:pPr>
              <a:defRPr/>
            </a:pPr>
            <a:r>
              <a:rPr lang="en-US"/>
              <a:t>Illustrates why things are more difficult than they may appear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5983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Classical cryptography</a:t>
            </a:r>
            <a:endParaRPr lang="en-US"/>
          </a:p>
        </p:txBody>
      </p:sp>
      <p:sp>
        <p:nvSpPr>
          <p:cNvPr id="534065420" name="Content Placeholder 2"/>
          <p:cNvSpPr>
            <a:spLocks noGrp="1"/>
          </p:cNvSpPr>
          <p:nvPr>
            <p:ph idx="1"/>
          </p:nvPr>
        </p:nvSpPr>
        <p:spPr bwMode="auto">
          <a:xfrm>
            <a:off x="567955" y="1600200"/>
            <a:ext cx="8229600" cy="45259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/>
              <a:t>Until the 1970s, exclusively </a:t>
            </a:r>
            <a:r>
              <a:rPr lang="en-US"/>
              <a:t>concerned with ensuring </a:t>
            </a:r>
            <a:r>
              <a:rPr lang="en-US" i="1"/>
              <a:t>secrecy </a:t>
            </a:r>
            <a:r>
              <a:rPr lang="en-US"/>
              <a:t>of communication</a:t>
            </a:r>
            <a:endParaRPr/>
          </a:p>
          <a:p>
            <a:pPr>
              <a:defRPr/>
            </a:pPr>
            <a:endParaRPr lang="en-US" i="1"/>
          </a:p>
          <a:p>
            <a:pPr>
              <a:defRPr/>
            </a:pPr>
            <a:r>
              <a:rPr lang="en-US"/>
              <a:t>I.e., </a:t>
            </a:r>
            <a:r>
              <a:rPr lang="en-US" i="1"/>
              <a:t>encryption	</a:t>
            </a:r>
            <a:endParaRPr lang="en-US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8644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Classical cryptography</a:t>
            </a:r>
            <a:endParaRPr lang="en-US"/>
          </a:p>
        </p:txBody>
      </p:sp>
      <p:sp>
        <p:nvSpPr>
          <p:cNvPr id="1920555881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/>
              <a:t>Until the 1970s, relied exclusively on secret information (a </a:t>
            </a:r>
            <a:r>
              <a:rPr lang="en-US" i="1"/>
              <a:t>key</a:t>
            </a:r>
            <a:r>
              <a:rPr lang="en-US"/>
              <a:t>) shared in advance between the communicating parties </a:t>
            </a:r>
            <a:endParaRPr/>
          </a:p>
          <a:p>
            <a:pPr marL="0" indent="0">
              <a:buNone/>
              <a:defRPr/>
            </a:pPr>
            <a:endParaRPr lang="en-US"/>
          </a:p>
          <a:p>
            <a:pPr marL="0" indent="0">
              <a:buNone/>
              <a:defRPr/>
            </a:pPr>
            <a:r>
              <a:rPr lang="en-US" i="1"/>
              <a:t>Private-key </a:t>
            </a:r>
            <a:r>
              <a:rPr lang="en-US" i="1"/>
              <a:t>cryptography </a:t>
            </a:r>
            <a:endParaRPr lang="en-US" i="1"/>
          </a:p>
          <a:p>
            <a:pPr lvl="1">
              <a:defRPr/>
            </a:pPr>
            <a:r>
              <a:rPr lang="en-US"/>
              <a:t>a</a:t>
            </a:r>
            <a:r>
              <a:rPr lang="en-US"/>
              <a:t>ka secret-key / shared-key / symmetric-key cryptography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16312286" name="Picture 2" descr="Lupe, Magnifier, Loupe, Glass, Magnifying"/>
          <p:cNvPicPr>
            <a:picLocks noChangeAspect="1" noChangeArrowheads="1"/>
          </p:cNvPicPr>
          <p:nvPr/>
        </p:nvPicPr>
        <p:blipFill rotWithShape="1">
          <a:blip r:embed="rId3"/>
          <a:stretch/>
        </p:blipFill>
        <p:spPr bwMode="auto">
          <a:xfrm>
            <a:off x="4038600" y="2590800"/>
            <a:ext cx="1400829" cy="1418561"/>
          </a:xfrm>
          <a:prstGeom prst="rect">
            <a:avLst/>
          </a:prstGeom>
          <a:noFill/>
        </p:spPr>
      </p:pic>
      <p:sp>
        <p:nvSpPr>
          <p:cNvPr id="522965674" name="AutoShap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Private-key encryption</a:t>
            </a:r>
            <a:endParaRPr lang="en-US"/>
          </a:p>
        </p:txBody>
      </p:sp>
      <p:pic>
        <p:nvPicPr>
          <p:cNvPr id="653178826" name="Picture 4" descr="j0292020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990602" y="2585268"/>
            <a:ext cx="1527175" cy="1448571"/>
          </a:xfrm>
          <a:prstGeom prst="rect">
            <a:avLst/>
          </a:prstGeom>
          <a:noFill/>
        </p:spPr>
      </p:pic>
      <p:pic>
        <p:nvPicPr>
          <p:cNvPr id="1440984622" name="Picture 5" descr="j0195384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>
            <a:off x="6629402" y="2585268"/>
            <a:ext cx="1418391" cy="1448571"/>
          </a:xfrm>
          <a:prstGeom prst="rect">
            <a:avLst/>
          </a:prstGeom>
          <a:noFill/>
        </p:spPr>
      </p:pic>
      <p:sp>
        <p:nvSpPr>
          <p:cNvPr id="688047573" name="Text Box 6"/>
          <p:cNvSpPr txBox="1">
            <a:spLocks noChangeArrowheads="1"/>
          </p:cNvSpPr>
          <p:nvPr/>
        </p:nvSpPr>
        <p:spPr bwMode="auto">
          <a:xfrm>
            <a:off x="566228" y="3047943"/>
            <a:ext cx="34817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defRPr/>
            </a:pPr>
            <a:r>
              <a:rPr lang="en-US" sz="2800">
                <a:solidFill>
                  <a:schemeClr val="tx1"/>
                </a:solidFill>
              </a:rPr>
              <a:t>k</a:t>
            </a:r>
            <a:endParaRPr/>
          </a:p>
        </p:txBody>
      </p:sp>
      <p:sp>
        <p:nvSpPr>
          <p:cNvPr id="1835205850" name="Text Box 7"/>
          <p:cNvSpPr txBox="1">
            <a:spLocks noChangeArrowheads="1"/>
          </p:cNvSpPr>
          <p:nvPr/>
        </p:nvSpPr>
        <p:spPr bwMode="auto">
          <a:xfrm>
            <a:off x="8077200" y="3047943"/>
            <a:ext cx="34817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defRPr/>
            </a:pPr>
            <a:r>
              <a:rPr lang="en-US" sz="2800">
                <a:solidFill>
                  <a:schemeClr val="tx1"/>
                </a:solidFill>
              </a:rPr>
              <a:t>k</a:t>
            </a:r>
            <a:endParaRPr/>
          </a:p>
        </p:txBody>
      </p:sp>
      <p:sp>
        <p:nvSpPr>
          <p:cNvPr id="549902300" name="Line 8"/>
          <p:cNvSpPr>
            <a:spLocks noChangeShapeType="1"/>
          </p:cNvSpPr>
          <p:nvPr/>
        </p:nvSpPr>
        <p:spPr bwMode="auto">
          <a:xfrm>
            <a:off x="2590800" y="3309553"/>
            <a:ext cx="38100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878518631" name="Text Box 9"/>
          <p:cNvSpPr txBox="1">
            <a:spLocks noChangeArrowheads="1"/>
          </p:cNvSpPr>
          <p:nvPr/>
        </p:nvSpPr>
        <p:spPr bwMode="auto">
          <a:xfrm>
            <a:off x="4317009" y="2717800"/>
            <a:ext cx="35758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tx1"/>
                </a:solidFill>
              </a:rPr>
              <a:t>c</a:t>
            </a:r>
            <a:endParaRPr lang="en-US" sz="2800">
              <a:solidFill>
                <a:schemeClr val="tx1"/>
              </a:solidFill>
            </a:endParaRPr>
          </a:p>
        </p:txBody>
      </p:sp>
      <p:cxnSp>
        <p:nvCxnSpPr>
          <p:cNvPr id="1764262433" name="Straight Arrow Connector 2"/>
          <p:cNvCxnSpPr/>
          <p:nvPr/>
        </p:nvCxnSpPr>
        <p:spPr bwMode="auto">
          <a:xfrm>
            <a:off x="533400" y="1905057"/>
            <a:ext cx="174086" cy="121914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5956772" name="TextBox 3"/>
          <p:cNvSpPr txBox="1"/>
          <p:nvPr/>
        </p:nvSpPr>
        <p:spPr bwMode="auto">
          <a:xfrm>
            <a:off x="232587" y="1385456"/>
            <a:ext cx="6056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/>
              <a:t>key</a:t>
            </a:r>
            <a:endParaRPr lang="en-US" sz="2400"/>
          </a:p>
        </p:txBody>
      </p:sp>
      <p:sp>
        <p:nvSpPr>
          <p:cNvPr id="733948388" name="TextBox 4"/>
          <p:cNvSpPr txBox="1"/>
          <p:nvPr/>
        </p:nvSpPr>
        <p:spPr bwMode="auto">
          <a:xfrm>
            <a:off x="750838" y="3962401"/>
            <a:ext cx="19848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sz="2800"/>
              <a:t>m</a:t>
            </a:r>
            <a:endParaRPr lang="en-US" sz="2800"/>
          </a:p>
          <a:p>
            <a:pPr algn="ctr">
              <a:defRPr/>
            </a:pPr>
            <a:r>
              <a:rPr lang="en-US" sz="2800"/>
              <a:t>c</a:t>
            </a:r>
            <a:r>
              <a:rPr lang="en-US" sz="2800"/>
              <a:t> </a:t>
            </a:r>
            <a:r>
              <a:rPr lang="en-US" sz="2800"/>
              <a:t></a:t>
            </a:r>
            <a:r>
              <a:rPr lang="en-US" sz="2800"/>
              <a:t> </a:t>
            </a:r>
            <a:r>
              <a:rPr lang="en-US" sz="2800"/>
              <a:t>Enc</a:t>
            </a:r>
            <a:r>
              <a:rPr lang="en-US" sz="2800" baseline="-25000"/>
              <a:t>k</a:t>
            </a:r>
            <a:r>
              <a:rPr lang="en-US" sz="2800"/>
              <a:t>(m)</a:t>
            </a:r>
            <a:endParaRPr lang="en-US" sz="2800"/>
          </a:p>
        </p:txBody>
      </p:sp>
      <p:cxnSp>
        <p:nvCxnSpPr>
          <p:cNvPr id="135541110" name="Straight Arrow Connector 6"/>
          <p:cNvCxnSpPr/>
          <p:nvPr/>
        </p:nvCxnSpPr>
        <p:spPr bwMode="auto">
          <a:xfrm>
            <a:off x="1981200" y="4267200"/>
            <a:ext cx="1676400" cy="304800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033346" name="TextBox 21"/>
          <p:cNvSpPr txBox="1"/>
          <p:nvPr/>
        </p:nvSpPr>
        <p:spPr bwMode="auto">
          <a:xfrm>
            <a:off x="2840184" y="4478694"/>
            <a:ext cx="24804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/>
              <a:t>m</a:t>
            </a:r>
            <a:r>
              <a:rPr lang="en-US" sz="2400"/>
              <a:t>essage/plaintext</a:t>
            </a:r>
            <a:endParaRPr lang="en-US" sz="2400"/>
          </a:p>
        </p:txBody>
      </p:sp>
      <p:cxnSp>
        <p:nvCxnSpPr>
          <p:cNvPr id="448107725" name="Straight Arrow Connector 24"/>
          <p:cNvCxnSpPr/>
          <p:nvPr/>
        </p:nvCxnSpPr>
        <p:spPr bwMode="auto">
          <a:xfrm>
            <a:off x="1981200" y="4940359"/>
            <a:ext cx="1524000" cy="107944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4656238" name="TextBox 26"/>
          <p:cNvSpPr txBox="1"/>
          <p:nvPr/>
        </p:nvSpPr>
        <p:spPr bwMode="auto">
          <a:xfrm>
            <a:off x="2743200" y="5939137"/>
            <a:ext cx="1536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/>
              <a:t>encryption</a:t>
            </a:r>
            <a:endParaRPr lang="en-US" sz="2400"/>
          </a:p>
        </p:txBody>
      </p:sp>
      <p:cxnSp>
        <p:nvCxnSpPr>
          <p:cNvPr id="1062019830" name="Straight Arrow Connector 27"/>
          <p:cNvCxnSpPr/>
          <p:nvPr/>
        </p:nvCxnSpPr>
        <p:spPr bwMode="auto">
          <a:xfrm flipV="1">
            <a:off x="4648200" y="2209800"/>
            <a:ext cx="811808" cy="685800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0818276" name="TextBox 31"/>
          <p:cNvSpPr txBox="1"/>
          <p:nvPr/>
        </p:nvSpPr>
        <p:spPr bwMode="auto">
          <a:xfrm>
            <a:off x="4724399" y="1701801"/>
            <a:ext cx="1455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/>
              <a:t>ciphertext</a:t>
            </a:r>
            <a:endParaRPr lang="en-US" sz="2400"/>
          </a:p>
        </p:txBody>
      </p:sp>
      <p:sp>
        <p:nvSpPr>
          <p:cNvPr id="1262383821" name="TextBox 32"/>
          <p:cNvSpPr txBox="1"/>
          <p:nvPr/>
        </p:nvSpPr>
        <p:spPr bwMode="auto">
          <a:xfrm>
            <a:off x="6468684" y="4267200"/>
            <a:ext cx="19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sz="2800"/>
              <a:t>m</a:t>
            </a:r>
            <a:r>
              <a:rPr lang="en-US" sz="2800"/>
              <a:t> := Dec</a:t>
            </a:r>
            <a:r>
              <a:rPr lang="en-US" sz="2800" baseline="-25000"/>
              <a:t>k</a:t>
            </a:r>
            <a:r>
              <a:rPr lang="en-US" sz="2800"/>
              <a:t>(c)</a:t>
            </a:r>
            <a:endParaRPr lang="en-US" sz="2800"/>
          </a:p>
        </p:txBody>
      </p:sp>
      <p:cxnSp>
        <p:nvCxnSpPr>
          <p:cNvPr id="563525649" name="Straight Arrow Connector 33"/>
          <p:cNvCxnSpPr>
            <a:stCxn id="1262383821" idx="2"/>
          </p:cNvCxnSpPr>
          <p:nvPr/>
        </p:nvCxnSpPr>
        <p:spPr bwMode="auto">
          <a:xfrm flipH="1">
            <a:off x="6629403" y="4790420"/>
            <a:ext cx="810060" cy="848380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3652501" name="TextBox 36"/>
          <p:cNvSpPr txBox="1"/>
          <p:nvPr/>
        </p:nvSpPr>
        <p:spPr bwMode="auto">
          <a:xfrm>
            <a:off x="5897722" y="5562601"/>
            <a:ext cx="1536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/>
              <a:t>decryption</a:t>
            </a:r>
            <a:endParaRPr lang="en-US" sz="2400"/>
          </a:p>
        </p:txBody>
      </p:sp>
      <p:cxnSp>
        <p:nvCxnSpPr>
          <p:cNvPr id="2003901068" name="Straight Arrow Connector 37"/>
          <p:cNvCxnSpPr/>
          <p:nvPr/>
        </p:nvCxnSpPr>
        <p:spPr bwMode="auto">
          <a:xfrm flipH="1">
            <a:off x="8251286" y="2057459"/>
            <a:ext cx="283114" cy="106674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1917930" name="TextBox 38"/>
          <p:cNvSpPr txBox="1"/>
          <p:nvPr/>
        </p:nvSpPr>
        <p:spPr bwMode="auto">
          <a:xfrm>
            <a:off x="8233587" y="1537855"/>
            <a:ext cx="6056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/>
              <a:t>key</a:t>
            </a: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956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45956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426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64262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917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81917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390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03901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956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426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917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390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9483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33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403334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4033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4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55411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554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33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4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9483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107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8107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56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34656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107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56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8518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8785186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1878518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90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549902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549902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0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620198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818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10818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0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818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383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525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635256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652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93652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631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1" dur="500"/>
                                        <p:tgtEl>
                                          <p:spTgt spid="2116312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902300" grpId="0" animBg="1"/>
      <p:bldP spid="1878518631" grpId="0"/>
      <p:bldP spid="945956772" grpId="0"/>
      <p:bldP spid="945956772" grpId="1"/>
      <p:bldP spid="733948388" grpId="0" build="p"/>
      <p:bldP spid="514033346" grpId="0"/>
      <p:bldP spid="514033346" grpId="1"/>
      <p:bldP spid="1134656238" grpId="0"/>
      <p:bldP spid="1134656238" grpId="1"/>
      <p:bldP spid="1110818276" grpId="0"/>
      <p:bldP spid="1110818276" grpId="1"/>
      <p:bldP spid="1262383821" grpId="0"/>
      <p:bldP spid="593652501" grpId="0"/>
      <p:bldP spid="681917930" grpId="0"/>
      <p:bldP spid="681917930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00758555" name="Picture 2" descr="https://encrypted-tbn2.gstatic.com/images?q=tbn:ANd9GcRtTxSbFhZTNqgfopfz6NFQmA0oJvh8YbZl7qN0FGOb7T1LXaXm"/>
          <p:cNvPicPr>
            <a:picLocks noChangeAspect="1" noChangeArrowheads="1"/>
          </p:cNvPicPr>
          <p:nvPr/>
        </p:nvPicPr>
        <p:blipFill rotWithShape="1">
          <a:blip r:embed="rId3"/>
          <a:stretch/>
        </p:blipFill>
        <p:spPr bwMode="auto">
          <a:xfrm>
            <a:off x="6557734" y="2834620"/>
            <a:ext cx="1671866" cy="1671866"/>
          </a:xfrm>
          <a:prstGeom prst="rect">
            <a:avLst/>
          </a:prstGeom>
          <a:noFill/>
        </p:spPr>
      </p:pic>
      <p:pic>
        <p:nvPicPr>
          <p:cNvPr id="1489905133" name="Picture 2" descr="Lupe, Magnifier, Loupe, Glass, Magnifying"/>
          <p:cNvPicPr>
            <a:picLocks noChangeAspect="1" noChangeArrowheads="1"/>
          </p:cNvPicPr>
          <p:nvPr/>
        </p:nvPicPr>
        <p:blipFill rotWithShape="1">
          <a:blip r:embed="rId4"/>
          <a:stretch/>
        </p:blipFill>
        <p:spPr bwMode="auto">
          <a:xfrm>
            <a:off x="6828770" y="4411004"/>
            <a:ext cx="1400829" cy="1418561"/>
          </a:xfrm>
          <a:prstGeom prst="rect">
            <a:avLst/>
          </a:prstGeom>
          <a:noFill/>
        </p:spPr>
      </p:pic>
      <p:sp>
        <p:nvSpPr>
          <p:cNvPr id="1622516415" name="AutoShap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Private-key encryption</a:t>
            </a:r>
            <a:endParaRPr lang="en-US"/>
          </a:p>
        </p:txBody>
      </p:sp>
      <p:pic>
        <p:nvPicPr>
          <p:cNvPr id="447676809" name="Picture 4" descr="j0292020"/>
          <p:cNvPicPr>
            <a:picLocks noChangeAspect="1" noChangeArrowheads="1"/>
          </p:cNvPicPr>
          <p:nvPr/>
        </p:nvPicPr>
        <p:blipFill rotWithShape="1">
          <a:blip r:embed="rId5"/>
          <a:stretch/>
        </p:blipFill>
        <p:spPr bwMode="auto">
          <a:xfrm>
            <a:off x="1012288" y="1600200"/>
            <a:ext cx="1527175" cy="1448571"/>
          </a:xfrm>
          <a:prstGeom prst="rect">
            <a:avLst/>
          </a:prstGeom>
          <a:noFill/>
        </p:spPr>
      </p:pic>
      <p:sp>
        <p:nvSpPr>
          <p:cNvPr id="1552540712" name="Text Box 6"/>
          <p:cNvSpPr txBox="1">
            <a:spLocks noChangeArrowheads="1"/>
          </p:cNvSpPr>
          <p:nvPr/>
        </p:nvSpPr>
        <p:spPr bwMode="auto">
          <a:xfrm>
            <a:off x="566228" y="2062875"/>
            <a:ext cx="34817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defRPr/>
            </a:pPr>
            <a:r>
              <a:rPr lang="en-US" sz="2800">
                <a:solidFill>
                  <a:schemeClr val="tx1"/>
                </a:solidFill>
              </a:rPr>
              <a:t>k</a:t>
            </a:r>
            <a:endParaRPr/>
          </a:p>
        </p:txBody>
      </p:sp>
      <p:sp>
        <p:nvSpPr>
          <p:cNvPr id="347921528" name="Line 8"/>
          <p:cNvSpPr>
            <a:spLocks noChangeShapeType="1"/>
          </p:cNvSpPr>
          <p:nvPr/>
        </p:nvSpPr>
        <p:spPr bwMode="auto">
          <a:xfrm>
            <a:off x="2696402" y="2585268"/>
            <a:ext cx="3704399" cy="72428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017693374" name="Text Box 9"/>
          <p:cNvSpPr txBox="1">
            <a:spLocks noChangeArrowheads="1"/>
          </p:cNvSpPr>
          <p:nvPr/>
        </p:nvSpPr>
        <p:spPr bwMode="auto">
          <a:xfrm>
            <a:off x="4303813" y="2311399"/>
            <a:ext cx="35758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tx1"/>
                </a:solidFill>
              </a:rPr>
              <a:t>c</a:t>
            </a:r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233869759" name="TextBox 4"/>
          <p:cNvSpPr txBox="1"/>
          <p:nvPr/>
        </p:nvSpPr>
        <p:spPr bwMode="auto">
          <a:xfrm>
            <a:off x="790112" y="2977334"/>
            <a:ext cx="190629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sz="2800"/>
              <a:t>m</a:t>
            </a:r>
            <a:endParaRPr lang="en-US" sz="2800"/>
          </a:p>
          <a:p>
            <a:pPr algn="ctr">
              <a:defRPr/>
            </a:pPr>
            <a:r>
              <a:rPr lang="en-US" sz="2800"/>
              <a:t>c</a:t>
            </a:r>
            <a:r>
              <a:rPr lang="en-US" sz="2800"/>
              <a:t> := </a:t>
            </a:r>
            <a:r>
              <a:rPr lang="en-US" sz="2800"/>
              <a:t>Enc</a:t>
            </a:r>
            <a:r>
              <a:rPr lang="en-US" sz="2800" baseline="-25000"/>
              <a:t>k</a:t>
            </a:r>
            <a:r>
              <a:rPr lang="en-US" sz="2800"/>
              <a:t>(m)</a:t>
            </a:r>
            <a:endParaRPr lang="en-US" sz="2800"/>
          </a:p>
        </p:txBody>
      </p:sp>
      <p:sp>
        <p:nvSpPr>
          <p:cNvPr id="1538670705" name="TextBox 32"/>
          <p:cNvSpPr txBox="1"/>
          <p:nvPr/>
        </p:nvSpPr>
        <p:spPr bwMode="auto">
          <a:xfrm>
            <a:off x="754846" y="6029980"/>
            <a:ext cx="19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sz="2800"/>
              <a:t>m</a:t>
            </a:r>
            <a:r>
              <a:rPr lang="en-US" sz="2800"/>
              <a:t> := Dec</a:t>
            </a:r>
            <a:r>
              <a:rPr lang="en-US" sz="2800" baseline="-25000"/>
              <a:t>k</a:t>
            </a:r>
            <a:r>
              <a:rPr lang="en-US" sz="2800"/>
              <a:t>(c)</a:t>
            </a:r>
            <a:endParaRPr lang="en-US" sz="2800"/>
          </a:p>
        </p:txBody>
      </p:sp>
      <p:pic>
        <p:nvPicPr>
          <p:cNvPr id="2089395316" name="Picture 4" descr="j0292020"/>
          <p:cNvPicPr>
            <a:picLocks noChangeAspect="1" noChangeArrowheads="1"/>
          </p:cNvPicPr>
          <p:nvPr/>
        </p:nvPicPr>
        <p:blipFill rotWithShape="1">
          <a:blip r:embed="rId5"/>
          <a:stretch/>
        </p:blipFill>
        <p:spPr bwMode="auto">
          <a:xfrm>
            <a:off x="1012288" y="4657609"/>
            <a:ext cx="1527175" cy="1448571"/>
          </a:xfrm>
          <a:prstGeom prst="rect">
            <a:avLst/>
          </a:prstGeom>
          <a:noFill/>
        </p:spPr>
      </p:pic>
      <p:sp>
        <p:nvSpPr>
          <p:cNvPr id="1228955698" name="Text Box 6"/>
          <p:cNvSpPr txBox="1">
            <a:spLocks noChangeArrowheads="1"/>
          </p:cNvSpPr>
          <p:nvPr/>
        </p:nvSpPr>
        <p:spPr bwMode="auto">
          <a:xfrm>
            <a:off x="609600" y="5120285"/>
            <a:ext cx="34817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defRPr/>
            </a:pPr>
            <a:r>
              <a:rPr lang="en-US" sz="2800">
                <a:solidFill>
                  <a:schemeClr val="tx1"/>
                </a:solidFill>
              </a:rPr>
              <a:t>k</a:t>
            </a:r>
            <a:endParaRPr/>
          </a:p>
        </p:txBody>
      </p:sp>
      <p:sp>
        <p:nvSpPr>
          <p:cNvPr id="1724350406" name="Line 8"/>
          <p:cNvSpPr>
            <a:spLocks noChangeShapeType="1"/>
          </p:cNvSpPr>
          <p:nvPr/>
        </p:nvSpPr>
        <p:spPr bwMode="auto">
          <a:xfrm flipV="1">
            <a:off x="2696403" y="4152516"/>
            <a:ext cx="3704399" cy="72428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triangle"/>
            <a:tailEnd type="none" w="lg" len="med"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407362749" name="Text Box 9"/>
          <p:cNvSpPr txBox="1">
            <a:spLocks noChangeArrowheads="1"/>
          </p:cNvSpPr>
          <p:nvPr/>
        </p:nvSpPr>
        <p:spPr bwMode="auto">
          <a:xfrm>
            <a:off x="4303813" y="3937000"/>
            <a:ext cx="35758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tx1"/>
                </a:solidFill>
              </a:rPr>
              <a:t>c</a:t>
            </a:r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478557865" name="Text Box 9"/>
          <p:cNvSpPr txBox="1">
            <a:spLocks noChangeArrowheads="1"/>
          </p:cNvSpPr>
          <p:nvPr/>
        </p:nvSpPr>
        <p:spPr bwMode="auto">
          <a:xfrm>
            <a:off x="7086601" y="4582180"/>
            <a:ext cx="35758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tx1"/>
                </a:solidFill>
              </a:rPr>
              <a:t>c</a:t>
            </a:r>
            <a:endParaRPr lang="en-US" sz="280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697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7693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921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557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8557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697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697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676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2540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7693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921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9395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89395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55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289556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7362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350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70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990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1" dur="500"/>
                                        <p:tgtEl>
                                          <p:spTgt spid="148990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2540712" grpId="0"/>
      <p:bldP spid="347921528" grpId="0" animBg="1"/>
      <p:bldP spid="347921528" grpId="1" animBg="1"/>
      <p:bldP spid="1017693374" grpId="0"/>
      <p:bldP spid="1017693374" grpId="1"/>
      <p:bldP spid="1233869759" grpId="0" build="p"/>
      <p:bldP spid="1233869759" grpId="1" build="allAtOnce"/>
      <p:bldP spid="1538670705" grpId="0"/>
      <p:bldP spid="1228955698" grpId="0"/>
      <p:bldP spid="1724350406" grpId="0" animBg="1"/>
      <p:bldP spid="1407362749" grpId="0"/>
      <p:bldP spid="47855786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8158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Private-key encryption</a:t>
            </a:r>
            <a:endParaRPr lang="en-US"/>
          </a:p>
        </p:txBody>
      </p:sp>
      <p:sp>
        <p:nvSpPr>
          <p:cNvPr id="1283345852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92500"/>
          </a:bodyPr>
          <a:lstStyle/>
          <a:p>
            <a:pPr>
              <a:defRPr/>
            </a:pPr>
            <a:r>
              <a:rPr lang="en-US"/>
              <a:t>A </a:t>
            </a:r>
            <a:r>
              <a:rPr lang="en-US" i="1"/>
              <a:t>private-key encryption scheme</a:t>
            </a:r>
            <a:r>
              <a:rPr lang="en-US"/>
              <a:t> is defined by a message space </a:t>
            </a:r>
            <a:r>
              <a:rPr lang="en-US" b="1">
                <a:latin typeface="Monotype Corsiva"/>
              </a:rPr>
              <a:t>M</a:t>
            </a:r>
            <a:r>
              <a:rPr lang="en-US"/>
              <a:t> and algorithms (Gen, </a:t>
            </a:r>
            <a:r>
              <a:rPr lang="en-US"/>
              <a:t>Enc</a:t>
            </a:r>
            <a:r>
              <a:rPr lang="en-US"/>
              <a:t>, Dec): </a:t>
            </a:r>
            <a:endParaRPr/>
          </a:p>
          <a:p>
            <a:pPr lvl="1">
              <a:defRPr/>
            </a:pPr>
            <a:r>
              <a:rPr lang="en-US"/>
              <a:t>Gen (key-generation algorithm): outputs </a:t>
            </a:r>
            <a:r>
              <a:rPr lang="en-US"/>
              <a:t>k</a:t>
            </a:r>
            <a:r>
              <a:rPr lang="en-US"/>
              <a:t></a:t>
            </a:r>
            <a:r>
              <a:rPr lang="en-US" b="1">
                <a:latin typeface="Monotype Corsiva"/>
              </a:rPr>
              <a:t>K</a:t>
            </a:r>
            <a:endParaRPr lang="en-US" b="1">
              <a:latin typeface="Monotype Corsiva"/>
            </a:endParaRPr>
          </a:p>
          <a:p>
            <a:pPr lvl="1">
              <a:defRPr/>
            </a:pPr>
            <a:r>
              <a:rPr lang="en-US"/>
              <a:t>Enc</a:t>
            </a:r>
            <a:r>
              <a:rPr lang="en-US"/>
              <a:t> (encryption algorithm): takes key k and message </a:t>
            </a:r>
            <a:br>
              <a:rPr lang="en-US"/>
            </a:br>
            <a:r>
              <a:rPr lang="en-US"/>
              <a:t>m</a:t>
            </a:r>
            <a:r>
              <a:rPr lang="en-US"/>
              <a:t></a:t>
            </a:r>
            <a:r>
              <a:rPr lang="en-US" b="1">
                <a:latin typeface="Monotype Corsiva"/>
              </a:rPr>
              <a:t>M</a:t>
            </a:r>
            <a:r>
              <a:rPr lang="en-US"/>
              <a:t> as input; outputs </a:t>
            </a:r>
            <a:r>
              <a:rPr lang="en-US"/>
              <a:t>ciphertext</a:t>
            </a:r>
            <a:r>
              <a:rPr lang="en-US"/>
              <a:t> c </a:t>
            </a:r>
            <a:br>
              <a:rPr lang="en-US"/>
            </a:br>
            <a:r>
              <a:rPr lang="en-US"/>
              <a:t>                               </a:t>
            </a:r>
            <a:r>
              <a:rPr lang="en-US"/>
              <a:t>c</a:t>
            </a:r>
            <a:r>
              <a:rPr lang="en-US"/>
              <a:t> </a:t>
            </a:r>
            <a:r>
              <a:rPr lang="en-US"/>
              <a:t></a:t>
            </a:r>
            <a:r>
              <a:rPr lang="en-US"/>
              <a:t> </a:t>
            </a:r>
            <a:r>
              <a:rPr lang="en-US"/>
              <a:t>Enc</a:t>
            </a:r>
            <a:r>
              <a:rPr lang="en-US" baseline="-25000"/>
              <a:t>k</a:t>
            </a:r>
            <a:r>
              <a:rPr lang="en-US"/>
              <a:t>(m)</a:t>
            </a:r>
            <a:endParaRPr/>
          </a:p>
          <a:p>
            <a:pPr lvl="1">
              <a:defRPr/>
            </a:pPr>
            <a:r>
              <a:rPr lang="en-US"/>
              <a:t>Dec (decryption algorithm): takes key k and </a:t>
            </a:r>
            <a:br>
              <a:rPr lang="en-US"/>
            </a:br>
            <a:r>
              <a:rPr lang="en-US"/>
              <a:t>ciphertext</a:t>
            </a:r>
            <a:r>
              <a:rPr lang="en-US"/>
              <a:t> c as input; outputs m or “error”</a:t>
            </a:r>
            <a:br>
              <a:rPr lang="en-US"/>
            </a:br>
            <a:r>
              <a:rPr lang="en-US"/>
              <a:t>                               m := Dec</a:t>
            </a:r>
            <a:r>
              <a:rPr lang="en-US" baseline="-25000"/>
              <a:t>k</a:t>
            </a:r>
            <a:r>
              <a:rPr lang="en-US"/>
              <a:t>(c)</a:t>
            </a:r>
            <a:endParaRPr lang="en-US"/>
          </a:p>
        </p:txBody>
      </p:sp>
      <p:sp>
        <p:nvSpPr>
          <p:cNvPr id="2043305072" name="Rectangle 3"/>
          <p:cNvSpPr/>
          <p:nvPr/>
        </p:nvSpPr>
        <p:spPr bwMode="auto">
          <a:xfrm>
            <a:off x="1447800" y="5649110"/>
            <a:ext cx="5638800" cy="954107"/>
          </a:xfrm>
          <a:prstGeom prst="rect">
            <a:avLst/>
          </a:prstGeom>
          <a:ln cap="sq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>
                <a:solidFill>
                  <a:srgbClr val="000000"/>
                </a:solidFill>
                <a:cs typeface="Arial"/>
              </a:rPr>
              <a:t>For all </a:t>
            </a:r>
            <a:r>
              <a:rPr lang="en-US" sz="2800"/>
              <a:t>m</a:t>
            </a:r>
            <a:r>
              <a:rPr lang="en-US" sz="2800"/>
              <a:t></a:t>
            </a:r>
            <a:r>
              <a:rPr lang="en-US" sz="2800" b="1">
                <a:latin typeface="Monotype Corsiva"/>
              </a:rPr>
              <a:t>M</a:t>
            </a:r>
            <a:r>
              <a:rPr lang="en-US" sz="2800"/>
              <a:t> and k output by Gen,</a:t>
            </a:r>
            <a:br>
              <a:rPr lang="en-US" sz="2800"/>
            </a:br>
            <a:r>
              <a:rPr lang="en-US" sz="2800"/>
              <a:t>Dec</a:t>
            </a:r>
            <a:r>
              <a:rPr lang="en-US" sz="2800" baseline="-25000"/>
              <a:t>k</a:t>
            </a:r>
            <a:r>
              <a:rPr lang="en-US" sz="2800"/>
              <a:t>(</a:t>
            </a:r>
            <a:r>
              <a:rPr lang="en-US" sz="2800"/>
              <a:t>Enc</a:t>
            </a:r>
            <a:r>
              <a:rPr lang="en-US" sz="2800" baseline="-25000"/>
              <a:t>k</a:t>
            </a:r>
            <a:r>
              <a:rPr lang="en-US" sz="2800"/>
              <a:t>(m)) = m</a:t>
            </a:r>
            <a:r>
              <a:rPr lang="en-US" sz="2800">
                <a:solidFill>
                  <a:srgbClr val="000000"/>
                </a:solidFill>
                <a:cs typeface="Arial"/>
              </a:rPr>
              <a:t> </a:t>
            </a:r>
            <a:endParaRPr lang="en-US" sz="2800">
              <a:solidFill>
                <a:srgbClr val="000000"/>
              </a:solidFill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3458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3458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3458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3458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3305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43305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3345852" grpId="0" build="p" bldLvl="2"/>
      <p:bldP spid="204330507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6280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Kerckhoffs’s</a:t>
            </a:r>
            <a:r>
              <a:rPr lang="en-US"/>
              <a:t> principle</a:t>
            </a:r>
            <a:endParaRPr lang="en-US"/>
          </a:p>
        </p:txBody>
      </p:sp>
      <p:sp>
        <p:nvSpPr>
          <p:cNvPr id="1267333808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i="1"/>
              <a:t>The encryption scheme </a:t>
            </a:r>
            <a:r>
              <a:rPr lang="en-US"/>
              <a:t>is not secret</a:t>
            </a:r>
            <a:endParaRPr/>
          </a:p>
          <a:p>
            <a:pPr lvl="1">
              <a:defRPr/>
            </a:pPr>
            <a:r>
              <a:rPr lang="en-US"/>
              <a:t>The attacker knows the encryption scheme</a:t>
            </a:r>
            <a:endParaRPr/>
          </a:p>
          <a:p>
            <a:pPr lvl="1">
              <a:defRPr/>
            </a:pPr>
            <a:r>
              <a:rPr lang="en-US"/>
              <a:t>The only secret is the </a:t>
            </a:r>
            <a:r>
              <a:rPr lang="en-US" i="1"/>
              <a:t>key</a:t>
            </a:r>
            <a:endParaRPr/>
          </a:p>
          <a:p>
            <a:pPr lvl="1">
              <a:defRPr/>
            </a:pPr>
            <a:r>
              <a:rPr lang="en-US"/>
              <a:t>The key must be chosen at random; kept secret</a:t>
            </a:r>
            <a:endParaRPr/>
          </a:p>
          <a:p>
            <a:pPr lvl="1">
              <a:defRPr/>
            </a:pPr>
            <a:endParaRPr lang="en-US"/>
          </a:p>
          <a:p>
            <a:pPr>
              <a:defRPr/>
            </a:pPr>
            <a:r>
              <a:rPr lang="en-US"/>
              <a:t>A</a:t>
            </a:r>
            <a:r>
              <a:rPr lang="en-US"/>
              <a:t>rguments in favor of this principle</a:t>
            </a:r>
            <a:endParaRPr/>
          </a:p>
          <a:p>
            <a:pPr lvl="1">
              <a:defRPr/>
            </a:pPr>
            <a:r>
              <a:rPr lang="en-US"/>
              <a:t>Easier to keep </a:t>
            </a:r>
            <a:r>
              <a:rPr lang="en-US" i="1"/>
              <a:t>key</a:t>
            </a:r>
            <a:r>
              <a:rPr lang="en-US"/>
              <a:t> secret than </a:t>
            </a:r>
            <a:r>
              <a:rPr lang="en-US" i="1"/>
              <a:t>algorithm</a:t>
            </a:r>
            <a:endParaRPr/>
          </a:p>
          <a:p>
            <a:pPr lvl="1">
              <a:defRPr/>
            </a:pPr>
            <a:r>
              <a:rPr lang="en-US"/>
              <a:t>Easier to change </a:t>
            </a:r>
            <a:r>
              <a:rPr lang="en-US" i="1"/>
              <a:t>key</a:t>
            </a:r>
            <a:r>
              <a:rPr lang="en-US"/>
              <a:t> than to change </a:t>
            </a:r>
            <a:r>
              <a:rPr lang="en-US" i="1"/>
              <a:t>algorithm</a:t>
            </a:r>
            <a:endParaRPr/>
          </a:p>
          <a:p>
            <a:pPr lvl="1">
              <a:defRPr/>
            </a:pPr>
            <a:r>
              <a:rPr lang="en-US"/>
              <a:t>Standardization</a:t>
            </a:r>
            <a:endParaRPr/>
          </a:p>
          <a:p>
            <a:pPr lvl="2">
              <a:defRPr/>
            </a:pPr>
            <a:r>
              <a:rPr lang="en-US"/>
              <a:t>Ease of deployment</a:t>
            </a:r>
            <a:endParaRPr/>
          </a:p>
          <a:p>
            <a:pPr lvl="2">
              <a:defRPr/>
            </a:pPr>
            <a:r>
              <a:rPr lang="en-US"/>
              <a:t>P</a:t>
            </a:r>
            <a:r>
              <a:rPr lang="en-US"/>
              <a:t>ublic scrutiny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338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7333808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2949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 shift cipher</a:t>
            </a:r>
            <a:endParaRPr lang="en-US"/>
          </a:p>
        </p:txBody>
      </p:sp>
      <p:sp>
        <p:nvSpPr>
          <p:cNvPr id="549936368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/>
              <a:t>Consider encrypting English text</a:t>
            </a:r>
            <a:endParaRPr/>
          </a:p>
          <a:p>
            <a:pPr>
              <a:defRPr/>
            </a:pPr>
            <a:r>
              <a:rPr lang="en-US"/>
              <a:t>Associate ‘a’ with 0; ‘b’ with 1;  …; ‘z’ with </a:t>
            </a:r>
            <a:r>
              <a:rPr lang="en-US"/>
              <a:t>25</a:t>
            </a:r>
            <a:endParaRPr lang="en-US"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k </a:t>
            </a:r>
            <a:r>
              <a:rPr lang="en-US"/>
              <a:t> </a:t>
            </a:r>
            <a:r>
              <a:rPr lang="en-US" b="1">
                <a:latin typeface="Monotype Corsiva"/>
              </a:rPr>
              <a:t>K </a:t>
            </a:r>
            <a:r>
              <a:rPr lang="en-US"/>
              <a:t>= {0, …, 25}</a:t>
            </a:r>
            <a:endParaRPr/>
          </a:p>
          <a:p>
            <a:pPr>
              <a:defRPr/>
            </a:pPr>
            <a:r>
              <a:rPr lang="en-US"/>
              <a:t>To encrypt using key k, shift every letter of the plaintext by k positions (with wraparound)</a:t>
            </a:r>
            <a:endParaRPr/>
          </a:p>
          <a:p>
            <a:pPr>
              <a:defRPr/>
            </a:pPr>
            <a:r>
              <a:rPr lang="en-US"/>
              <a:t>Decryption just does the reverse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1615648690" name="Rectangle 3"/>
          <p:cNvSpPr/>
          <p:nvPr/>
        </p:nvSpPr>
        <p:spPr bwMode="auto">
          <a:xfrm>
            <a:off x="1905000" y="5105400"/>
            <a:ext cx="5638800" cy="1384995"/>
          </a:xfrm>
          <a:prstGeom prst="rect">
            <a:avLst/>
          </a:prstGeom>
          <a:ln cap="sq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>
                <a:solidFill>
                  <a:srgbClr val="000000"/>
                </a:solidFill>
                <a:latin typeface="Courier New"/>
                <a:cs typeface="Courier New"/>
              </a:rPr>
              <a:t>helloworldz</a:t>
            </a:r>
            <a:endParaRPr lang="en-US" sz="2800">
              <a:solidFill>
                <a:srgbClr val="000000"/>
              </a:solidFill>
              <a:latin typeface="Courier New"/>
              <a:cs typeface="Courier New"/>
            </a:endParaRPr>
          </a:p>
          <a:p>
            <a:pPr algn="ctr">
              <a:defRPr/>
            </a:pPr>
            <a:r>
              <a:rPr lang="en-US" sz="2800" u="sng">
                <a:solidFill>
                  <a:srgbClr val="000000"/>
                </a:solidFill>
                <a:latin typeface="Courier New"/>
                <a:cs typeface="Courier New"/>
              </a:rPr>
              <a:t>ccccccccccc</a:t>
            </a:r>
            <a:r>
              <a:rPr lang="en-US" sz="2800" u="sng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br>
              <a:rPr lang="en-US" sz="2800">
                <a:solidFill>
                  <a:srgbClr val="000000"/>
                </a:solidFill>
                <a:latin typeface="Courier New"/>
                <a:cs typeface="Courier New"/>
              </a:rPr>
            </a:br>
            <a:r>
              <a:rPr lang="en-US" sz="2800">
                <a:solidFill>
                  <a:srgbClr val="000000"/>
                </a:solidFill>
                <a:latin typeface="Courier New"/>
                <a:cs typeface="Courier New"/>
              </a:rPr>
              <a:t>jgnnqyqtnfb</a:t>
            </a:r>
            <a:endParaRPr lang="en-US" sz="2800">
              <a:solidFill>
                <a:srgbClr val="000000"/>
              </a:solidFill>
              <a:latin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5648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156486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1564869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659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Modular arithmetic</a:t>
            </a:r>
            <a:endParaRPr lang="en-US"/>
          </a:p>
        </p:txBody>
      </p:sp>
      <p:sp>
        <p:nvSpPr>
          <p:cNvPr id="251303154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/>
              <a:t>x</a:t>
            </a:r>
            <a:r>
              <a:rPr lang="en-US"/>
              <a:t> = </a:t>
            </a:r>
            <a:r>
              <a:rPr lang="en-US"/>
              <a:t>y</a:t>
            </a:r>
            <a:r>
              <a:rPr lang="en-US"/>
              <a:t> mod N if and only if N divides x-y</a:t>
            </a:r>
            <a:endParaRPr/>
          </a:p>
          <a:p>
            <a:pPr marL="342900" lvl="1" indent="-342900">
              <a:buFont typeface="Arial"/>
              <a:buChar char="•"/>
              <a:defRPr/>
            </a:pPr>
            <a:r>
              <a:rPr lang="en-US"/>
              <a:t>[x mod N] = </a:t>
            </a:r>
            <a:r>
              <a:rPr lang="en-US"/>
              <a:t>t</a:t>
            </a:r>
            <a:r>
              <a:rPr lang="en-US"/>
              <a:t>he </a:t>
            </a:r>
            <a:r>
              <a:rPr lang="en-US"/>
              <a:t>remainder when x is divided by N</a:t>
            </a:r>
            <a:endParaRPr/>
          </a:p>
          <a:p>
            <a:pPr lvl="1">
              <a:defRPr/>
            </a:pPr>
            <a:r>
              <a:rPr lang="en-US"/>
              <a:t>I.e., the unique value </a:t>
            </a:r>
            <a:r>
              <a:rPr lang="en-US"/>
              <a:t>y</a:t>
            </a:r>
            <a:r>
              <a:rPr lang="en-US"/>
              <a:t>{0, …, N-1} such that </a:t>
            </a:r>
            <a:br>
              <a:rPr lang="en-US"/>
            </a:br>
            <a:r>
              <a:rPr lang="en-US"/>
              <a:t>x = </a:t>
            </a:r>
            <a:r>
              <a:rPr lang="en-US"/>
              <a:t>y</a:t>
            </a:r>
            <a:r>
              <a:rPr lang="en-US"/>
              <a:t> mod N</a:t>
            </a:r>
            <a:endParaRPr/>
          </a:p>
          <a:p>
            <a:pPr marL="457200" lvl="1" indent="0">
              <a:buNone/>
              <a:defRPr/>
            </a:pPr>
            <a:endParaRPr lang="en-US"/>
          </a:p>
          <a:p>
            <a:pPr>
              <a:defRPr/>
            </a:pPr>
            <a:r>
              <a:rPr lang="en-US"/>
              <a:t>2</a:t>
            </a:r>
            <a:r>
              <a:rPr lang="en-US"/>
              <a:t>5 = 35 mod 10</a:t>
            </a:r>
            <a:endParaRPr/>
          </a:p>
          <a:p>
            <a:pPr>
              <a:defRPr/>
            </a:pPr>
            <a:r>
              <a:rPr lang="en-US"/>
              <a:t>25 ≠ [35 mod 10]</a:t>
            </a:r>
            <a:endParaRPr/>
          </a:p>
          <a:p>
            <a:pPr>
              <a:defRPr/>
            </a:pPr>
            <a:r>
              <a:rPr lang="en-US"/>
              <a:t>5 = [35 mod 10] </a:t>
            </a:r>
            <a:r>
              <a:rPr lang="en-US"/>
              <a:t> 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03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03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03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03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031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031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30315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3815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 shift cipher, formally</a:t>
            </a:r>
            <a:endParaRPr lang="en-US"/>
          </a:p>
        </p:txBody>
      </p:sp>
      <p:sp>
        <p:nvSpPr>
          <p:cNvPr id="880726817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 b="1">
                <a:latin typeface="Monotype Corsiva"/>
              </a:rPr>
              <a:t>M</a:t>
            </a:r>
            <a:r>
              <a:rPr lang="en-US"/>
              <a:t> = {strings over lowercase English alphabet</a:t>
            </a:r>
            <a:r>
              <a:rPr lang="en-US"/>
              <a:t>}</a:t>
            </a:r>
            <a:endParaRPr/>
          </a:p>
          <a:p>
            <a:pPr>
              <a:defRPr/>
            </a:pPr>
            <a:r>
              <a:rPr lang="en-US"/>
              <a:t>Gen: choose uniform k</a:t>
            </a:r>
            <a:r>
              <a:rPr lang="en-US"/>
              <a:t>{0, …, 25}</a:t>
            </a:r>
            <a:endParaRPr/>
          </a:p>
          <a:p>
            <a:pPr>
              <a:defRPr/>
            </a:pPr>
            <a:r>
              <a:rPr lang="en-US"/>
              <a:t>Enc</a:t>
            </a:r>
            <a:r>
              <a:rPr lang="en-US" baseline="-25000"/>
              <a:t>k</a:t>
            </a:r>
            <a:r>
              <a:rPr lang="en-US"/>
              <a:t>(m</a:t>
            </a:r>
            <a:r>
              <a:rPr lang="en-US" baseline="-25000"/>
              <a:t>1</a:t>
            </a:r>
            <a:r>
              <a:rPr lang="en-US"/>
              <a:t>…</a:t>
            </a:r>
            <a:r>
              <a:rPr lang="en-US"/>
              <a:t>m</a:t>
            </a:r>
            <a:r>
              <a:rPr lang="en-US" baseline="-25000"/>
              <a:t>t</a:t>
            </a:r>
            <a:r>
              <a:rPr lang="en-US"/>
              <a:t>): output c</a:t>
            </a:r>
            <a:r>
              <a:rPr lang="en-US" baseline="-25000"/>
              <a:t>1</a:t>
            </a:r>
            <a:r>
              <a:rPr lang="en-US"/>
              <a:t>…</a:t>
            </a:r>
            <a:r>
              <a:rPr lang="en-US"/>
              <a:t>c</a:t>
            </a:r>
            <a:r>
              <a:rPr lang="en-US" baseline="-25000"/>
              <a:t>t</a:t>
            </a:r>
            <a:r>
              <a:rPr lang="en-US"/>
              <a:t>, where</a:t>
            </a:r>
            <a:br>
              <a:rPr lang="en-US"/>
            </a:br>
            <a:r>
              <a:rPr lang="en-US"/>
              <a:t>                       c</a:t>
            </a:r>
            <a:r>
              <a:rPr lang="en-US" baseline="-25000"/>
              <a:t>i</a:t>
            </a:r>
            <a:r>
              <a:rPr lang="en-US"/>
              <a:t> := [m</a:t>
            </a:r>
            <a:r>
              <a:rPr lang="en-US" baseline="-25000"/>
              <a:t>i</a:t>
            </a:r>
            <a:r>
              <a:rPr lang="en-US"/>
              <a:t> + k mod 26]</a:t>
            </a:r>
            <a:endParaRPr/>
          </a:p>
          <a:p>
            <a:pPr>
              <a:defRPr/>
            </a:pPr>
            <a:r>
              <a:rPr lang="en-US"/>
              <a:t>Dec</a:t>
            </a:r>
            <a:r>
              <a:rPr lang="en-US" baseline="-25000"/>
              <a:t>k</a:t>
            </a:r>
            <a:r>
              <a:rPr lang="en-US"/>
              <a:t>(c</a:t>
            </a:r>
            <a:r>
              <a:rPr lang="en-US" baseline="-25000"/>
              <a:t>1</a:t>
            </a:r>
            <a:r>
              <a:rPr lang="en-US"/>
              <a:t>…</a:t>
            </a:r>
            <a:r>
              <a:rPr lang="en-US"/>
              <a:t>c</a:t>
            </a:r>
            <a:r>
              <a:rPr lang="en-US" baseline="-25000"/>
              <a:t>t</a:t>
            </a:r>
            <a:r>
              <a:rPr lang="en-US"/>
              <a:t>): output m</a:t>
            </a:r>
            <a:r>
              <a:rPr lang="en-US" baseline="-25000"/>
              <a:t>1</a:t>
            </a:r>
            <a:r>
              <a:rPr lang="en-US"/>
              <a:t>…</a:t>
            </a:r>
            <a:r>
              <a:rPr lang="en-US"/>
              <a:t>m</a:t>
            </a:r>
            <a:r>
              <a:rPr lang="en-US" baseline="-25000"/>
              <a:t>t</a:t>
            </a:r>
            <a:r>
              <a:rPr lang="en-US"/>
              <a:t>, where    </a:t>
            </a:r>
            <a:br>
              <a:rPr lang="en-US"/>
            </a:br>
            <a:r>
              <a:rPr lang="en-US"/>
              <a:t>                       m</a:t>
            </a:r>
            <a:r>
              <a:rPr lang="en-US" baseline="-25000"/>
              <a:t>i</a:t>
            </a:r>
            <a:r>
              <a:rPr lang="en-US"/>
              <a:t> := [c</a:t>
            </a:r>
            <a:r>
              <a:rPr lang="en-US" baseline="-25000"/>
              <a:t>i</a:t>
            </a:r>
            <a:r>
              <a:rPr lang="en-US"/>
              <a:t> - k mod 26]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Can verify that correctness holds…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268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268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268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268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268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0726817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6623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Is the shift cipher secure?</a:t>
            </a:r>
            <a:endParaRPr lang="en-US"/>
          </a:p>
        </p:txBody>
      </p:sp>
      <p:sp>
        <p:nvSpPr>
          <p:cNvPr id="1894417929" name="Content Placeholder 2"/>
          <p:cNvSpPr>
            <a:spLocks noGrp="1"/>
          </p:cNvSpPr>
          <p:nvPr>
            <p:ph idx="1"/>
          </p:nvPr>
        </p:nvSpPr>
        <p:spPr bwMode="auto">
          <a:xfrm>
            <a:off x="457200" y="1600201"/>
            <a:ext cx="8382000" cy="45259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/>
              <a:t>No -- only 26 possible keys!</a:t>
            </a:r>
            <a:endParaRPr/>
          </a:p>
          <a:p>
            <a:pPr lvl="1">
              <a:defRPr/>
            </a:pPr>
            <a:r>
              <a:rPr lang="en-US"/>
              <a:t>Given a </a:t>
            </a:r>
            <a:r>
              <a:rPr lang="en-US"/>
              <a:t>ciphertext</a:t>
            </a:r>
            <a:r>
              <a:rPr lang="en-US"/>
              <a:t>, try decrypting with every possible key</a:t>
            </a:r>
            <a:endParaRPr/>
          </a:p>
          <a:p>
            <a:pPr lvl="1">
              <a:defRPr/>
            </a:pPr>
            <a:r>
              <a:rPr lang="en-US"/>
              <a:t>O</a:t>
            </a:r>
            <a:r>
              <a:rPr lang="en-US"/>
              <a:t>nly one possibility will “make sense”</a:t>
            </a:r>
            <a:endParaRPr/>
          </a:p>
          <a:p>
            <a:pPr lvl="1">
              <a:defRPr/>
            </a:pPr>
            <a:r>
              <a:rPr lang="en-US"/>
              <a:t>(What assumptions are we making here?)</a:t>
            </a:r>
            <a:endParaRPr/>
          </a:p>
          <a:p>
            <a:pPr lvl="1">
              <a:defRPr/>
            </a:pPr>
            <a:endParaRPr lang="en-US"/>
          </a:p>
          <a:p>
            <a:pPr>
              <a:defRPr/>
            </a:pPr>
            <a:r>
              <a:rPr lang="en-US"/>
              <a:t>Example of a “brute-force” or “exhaustive-search” attack</a:t>
            </a:r>
            <a:endParaRPr/>
          </a:p>
          <a:p>
            <a:pPr lvl="1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4354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Example</a:t>
            </a:r>
            <a:endParaRPr lang="en-US"/>
          </a:p>
        </p:txBody>
      </p:sp>
      <p:sp>
        <p:nvSpPr>
          <p:cNvPr id="56506417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Ciphertext</a:t>
            </a:r>
            <a:r>
              <a:rPr lang="en-US"/>
              <a:t> </a:t>
            </a:r>
            <a:r>
              <a:rPr lang="en-US">
                <a:latin typeface="Courier New"/>
                <a:cs typeface="Courier New"/>
              </a:rPr>
              <a:t>uryybjbeyq</a:t>
            </a:r>
            <a:endParaRPr lang="en-US">
              <a:latin typeface="Courier New"/>
              <a:cs typeface="Courier New"/>
            </a:endParaRPr>
          </a:p>
          <a:p>
            <a:pPr>
              <a:defRPr/>
            </a:pPr>
            <a:r>
              <a:rPr lang="en-US"/>
              <a:t>Try every possible key…</a:t>
            </a:r>
            <a:endParaRPr/>
          </a:p>
          <a:p>
            <a:pPr lvl="1">
              <a:defRPr/>
            </a:pPr>
            <a:r>
              <a:rPr lang="en-US">
                <a:latin typeface="Courier New"/>
                <a:cs typeface="Courier New"/>
              </a:rPr>
              <a:t>t</a:t>
            </a:r>
            <a:r>
              <a:rPr lang="en-US">
                <a:latin typeface="Courier New"/>
                <a:cs typeface="Courier New"/>
              </a:rPr>
              <a:t>qxxaiadxp</a:t>
            </a:r>
            <a:endParaRPr lang="en-US">
              <a:latin typeface="Courier New"/>
              <a:cs typeface="Courier New"/>
            </a:endParaRPr>
          </a:p>
          <a:p>
            <a:pPr lvl="1">
              <a:defRPr/>
            </a:pPr>
            <a:r>
              <a:rPr lang="en-US">
                <a:latin typeface="Courier New"/>
                <a:cs typeface="Courier New"/>
              </a:rPr>
              <a:t>s</a:t>
            </a:r>
            <a:r>
              <a:rPr lang="en-US">
                <a:latin typeface="Courier New"/>
                <a:cs typeface="Courier New"/>
              </a:rPr>
              <a:t>pwwzhzcwo</a:t>
            </a:r>
            <a:endParaRPr lang="en-US">
              <a:latin typeface="Courier New"/>
              <a:cs typeface="Courier New"/>
            </a:endParaRPr>
          </a:p>
          <a:p>
            <a:pPr lvl="1">
              <a:defRPr/>
            </a:pPr>
            <a:r>
              <a:rPr lang="en-US"/>
              <a:t>…</a:t>
            </a:r>
            <a:endParaRPr/>
          </a:p>
          <a:p>
            <a:pPr lvl="1">
              <a:defRPr/>
            </a:pPr>
            <a:r>
              <a:rPr lang="en-US">
                <a:latin typeface="Courier New"/>
                <a:cs typeface="Courier New"/>
              </a:rPr>
              <a:t>helloworld</a:t>
            </a:r>
            <a:endParaRPr lang="en-US">
              <a:latin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064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064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064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064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064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5064179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342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Byte-wise shift cipher</a:t>
            </a:r>
            <a:endParaRPr lang="en-US"/>
          </a:p>
        </p:txBody>
      </p:sp>
      <p:sp>
        <p:nvSpPr>
          <p:cNvPr id="109900548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Work with an alphabet of </a:t>
            </a:r>
            <a:r>
              <a:rPr lang="en-US" i="1"/>
              <a:t>bytes</a:t>
            </a:r>
            <a:r>
              <a:rPr lang="en-US"/>
              <a:t> rather than (English, lowercase) </a:t>
            </a:r>
            <a:r>
              <a:rPr lang="en-US" i="1"/>
              <a:t>letters</a:t>
            </a:r>
            <a:endParaRPr/>
          </a:p>
          <a:p>
            <a:pPr lvl="1">
              <a:defRPr/>
            </a:pPr>
            <a:r>
              <a:rPr lang="en-US"/>
              <a:t>Works natively for arbitrary data!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Use XOR instead of modular addition</a:t>
            </a:r>
            <a:endParaRPr/>
          </a:p>
          <a:p>
            <a:pPr lvl="1">
              <a:defRPr/>
            </a:pPr>
            <a:r>
              <a:rPr lang="en-US"/>
              <a:t>Essential properties still hold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78882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Hexadecimal (base 16)</a:t>
            </a:r>
            <a:endParaRPr lang="en-US"/>
          </a:p>
        </p:txBody>
      </p:sp>
      <p:graphicFrame>
        <p:nvGraphicFramePr>
          <p:cNvPr id="1397401510" name="Table 6"/>
          <p:cNvGraphicFramePr>
            <a:graphicFrameLocks xmlns:a="http://schemas.openxmlformats.org/drawingml/2006/main" noGrp="1"/>
          </p:cNvGraphicFramePr>
          <p:nvPr/>
        </p:nvGraphicFramePr>
        <p:xfrm rot="0">
          <a:off x="381000" y="1701800"/>
          <a:ext cx="3810000" cy="480906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838200"/>
                <a:gridCol w="1676400"/>
                <a:gridCol w="1295400"/>
              </a:tblGrid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Hex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Bits</a:t>
                      </a:r>
                      <a:r>
                        <a:rPr lang="en-US" sz="2400"/>
                        <a:t> </a:t>
                      </a:r>
                      <a:r>
                        <a:rPr lang="en-US" sz="2400"/>
                        <a:t>(“nibble”)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Decimal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0000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0001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2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0010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2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3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0011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3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4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0100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4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5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0101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5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6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0110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6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7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0111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7</a:t>
                      </a:r>
                      <a:endParaRPr lang="en-US" sz="2400"/>
                    </a:p>
                  </a:txBody>
                  <a:tcPr marT="60960" marB="60960"/>
                </a:tc>
              </a:tr>
            </a:tbl>
          </a:graphicData>
        </a:graphic>
      </p:graphicFrame>
      <p:graphicFrame>
        <p:nvGraphicFramePr>
          <p:cNvPr id="841067055" name="Table 7"/>
          <p:cNvGraphicFramePr>
            <a:graphicFrameLocks xmlns:a="http://schemas.openxmlformats.org/drawingml/2006/main" noGrp="1"/>
          </p:cNvGraphicFramePr>
          <p:nvPr/>
        </p:nvGraphicFramePr>
        <p:xfrm rot="0">
          <a:off x="4876800" y="1701800"/>
          <a:ext cx="3733800" cy="480906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838200"/>
                <a:gridCol w="1676400"/>
                <a:gridCol w="1219200"/>
              </a:tblGrid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Hex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Bits (“nibble”)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Decimal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8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1000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8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9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1001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9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A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1010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10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B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1011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11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C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1100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12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D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1101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13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E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1110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14</a:t>
                      </a:r>
                      <a:endParaRPr lang="en-US" sz="2400"/>
                    </a:p>
                  </a:txBody>
                  <a:tcPr marT="60960" marB="60960"/>
                </a:tc>
              </a:tr>
              <a:tr h="494453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F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1111</a:t>
                      </a:r>
                      <a:endParaRPr lang="en-US" sz="2400"/>
                    </a:p>
                  </a:txBody>
                  <a:tcPr marT="60960" marB="60960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sz="2400"/>
                        <a:t>15</a:t>
                      </a:r>
                      <a:endParaRPr lang="en-US" sz="2400"/>
                    </a:p>
                  </a:txBody>
                  <a:tcPr marT="60960" marB="6096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09587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Hexadecimal (base 16)</a:t>
            </a:r>
            <a:endParaRPr lang="en-US"/>
          </a:p>
        </p:txBody>
      </p:sp>
      <p:sp>
        <p:nvSpPr>
          <p:cNvPr id="7743117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0x10</a:t>
            </a:r>
            <a:endParaRPr/>
          </a:p>
          <a:p>
            <a:pPr lvl="1">
              <a:defRPr/>
            </a:pPr>
            <a:r>
              <a:rPr lang="en-US"/>
              <a:t>0x10 = 16*1 + 0 = 16</a:t>
            </a:r>
            <a:endParaRPr/>
          </a:p>
          <a:p>
            <a:pPr lvl="1">
              <a:defRPr/>
            </a:pPr>
            <a:r>
              <a:rPr lang="en-US"/>
              <a:t>0x10 = 0001 0000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0xAF</a:t>
            </a:r>
            <a:endParaRPr/>
          </a:p>
          <a:p>
            <a:pPr lvl="1">
              <a:defRPr/>
            </a:pPr>
            <a:r>
              <a:rPr lang="en-US"/>
              <a:t>0xAF = 16*A + </a:t>
            </a:r>
            <a:r>
              <a:rPr lang="en-US"/>
              <a:t>F</a:t>
            </a:r>
            <a:r>
              <a:rPr lang="en-US"/>
              <a:t> = 16*10 + 15 = 175</a:t>
            </a:r>
            <a:endParaRPr/>
          </a:p>
          <a:p>
            <a:pPr lvl="1">
              <a:defRPr/>
            </a:pPr>
            <a:r>
              <a:rPr lang="en-US"/>
              <a:t>0xAF = 1010 1111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27</Slides>
  <Notes>27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Cryptography</dc:title>
  <dc:creator>katz</dc:creator>
  <cp:lastModifiedBy/>
  <cp:revision>187</cp:revision>
  <dcterms:created xsi:type="dcterms:W3CDTF">2014-06-02T02:25:30Z</dcterms:created>
  <dcterms:modified xsi:type="dcterms:W3CDTF">2026-03-30T20:29:23Z</dcterms:modified>
</cp:coreProperties>
</file>